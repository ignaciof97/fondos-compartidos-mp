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3743325" cy="8572500"/>
  <p:notesSz cx="8572500" cy="37433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7248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 Mercado Pago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6934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8"/>
          <p:cNvSpPr/>
          <p:nvPr/>
        </p:nvSpPr>
        <p:spPr>
          <a:xfrm>
            <a:off x="0" y="914400"/>
            <a:ext cx="3743325" cy="1104900"/>
          </a:xfrm>
          <a:prstGeom prst="rect">
            <a:avLst/>
          </a:prstGeom>
          <a:solidFill>
            <a:srgbClr val="FDE503"/>
          </a:solidFill>
          <a:ln/>
        </p:spPr>
      </p:sp>
      <p:sp>
        <p:nvSpPr>
          <p:cNvPr id="14" name="Shape 9"/>
          <p:cNvSpPr/>
          <p:nvPr/>
        </p:nvSpPr>
        <p:spPr>
          <a:xfrm>
            <a:off x="171450" y="1023938"/>
            <a:ext cx="381000" cy="2952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133350" y="1023938"/>
            <a:ext cx="457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57225" y="1062038"/>
            <a:ext cx="11724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Hola, Ignacio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2676525" y="971550"/>
            <a:ext cx="400050" cy="400050"/>
          </a:xfrm>
          <a:prstGeom prst="roundRect">
            <a:avLst>
              <a:gd name="adj" fmla="val 30952"/>
            </a:avLst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1300" y="1076325"/>
            <a:ext cx="190500" cy="1905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71825" y="971550"/>
            <a:ext cx="400050" cy="400050"/>
          </a:xfrm>
          <a:prstGeom prst="roundRect">
            <a:avLst>
              <a:gd name="adj" fmla="val 30952"/>
            </a:avLst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6600" y="1076325"/>
            <a:ext cx="190500" cy="1905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442841" y="923925"/>
            <a:ext cx="176659" cy="171450"/>
          </a:xfrm>
          <a:prstGeom prst="ellipse">
            <a:avLst/>
          </a:prstGeom>
          <a:solidFill>
            <a:srgbClr val="F23D4F"/>
          </a:solidFill>
          <a:ln/>
        </p:spPr>
      </p:sp>
      <p:sp>
        <p:nvSpPr>
          <p:cNvPr id="22" name="Text 15"/>
          <p:cNvSpPr/>
          <p:nvPr/>
        </p:nvSpPr>
        <p:spPr>
          <a:xfrm>
            <a:off x="3442841" y="923925"/>
            <a:ext cx="1766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75" dirty="0"/>
          </a:p>
        </p:txBody>
      </p:sp>
      <p:sp>
        <p:nvSpPr>
          <p:cNvPr id="23" name="Text 16"/>
          <p:cNvSpPr/>
          <p:nvPr/>
        </p:nvSpPr>
        <p:spPr>
          <a:xfrm>
            <a:off x="190500" y="1581150"/>
            <a:ext cx="4625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</a:t>
            </a:r>
            <a:endParaRPr lang="en-US" sz="1125" dirty="0"/>
          </a:p>
        </p:txBody>
      </p:sp>
      <p:sp>
        <p:nvSpPr>
          <p:cNvPr id="24" name="Text 17"/>
          <p:cNvSpPr/>
          <p:nvPr/>
        </p:nvSpPr>
        <p:spPr>
          <a:xfrm>
            <a:off x="767358" y="1581150"/>
            <a:ext cx="5642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A7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Dólares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1445865" y="1581150"/>
            <a:ext cx="660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A7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</a:t>
            </a:r>
            <a:endParaRPr lang="en-US" sz="1125" dirty="0"/>
          </a:p>
        </p:txBody>
      </p:sp>
      <p:sp>
        <p:nvSpPr>
          <p:cNvPr id="26" name="Shape 19"/>
          <p:cNvSpPr/>
          <p:nvPr/>
        </p:nvSpPr>
        <p:spPr>
          <a:xfrm>
            <a:off x="2220218" y="1633538"/>
            <a:ext cx="66675" cy="66675"/>
          </a:xfrm>
          <a:prstGeom prst="ellipse">
            <a:avLst/>
          </a:prstGeom>
          <a:solidFill>
            <a:srgbClr val="F23D4F"/>
          </a:solidFill>
          <a:ln/>
        </p:spPr>
      </p:sp>
      <p:sp>
        <p:nvSpPr>
          <p:cNvPr id="27" name="Text 20"/>
          <p:cNvSpPr/>
          <p:nvPr/>
        </p:nvSpPr>
        <p:spPr>
          <a:xfrm>
            <a:off x="2334518" y="1581150"/>
            <a:ext cx="8125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A7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Inversiones</a:t>
            </a:r>
            <a:endParaRPr lang="en-US" sz="1125" dirty="0"/>
          </a:p>
        </p:txBody>
      </p:sp>
      <p:sp>
        <p:nvSpPr>
          <p:cNvPr id="28" name="Shape 21"/>
          <p:cNvSpPr/>
          <p:nvPr/>
        </p:nvSpPr>
        <p:spPr>
          <a:xfrm>
            <a:off x="152400" y="1885950"/>
            <a:ext cx="3438525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141E32">
                <a:alpha val="8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304800" y="2057400"/>
            <a:ext cx="11647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45" kern="0" dirty="0">
                <a:solidFill>
                  <a:srgbClr val="16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$47.320</a:t>
            </a:r>
            <a:endParaRPr lang="en-US" sz="2325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98104" y="2138363"/>
            <a:ext cx="190500" cy="190500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28975" y="2128838"/>
            <a:ext cx="209550" cy="209550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800" y="2457450"/>
            <a:ext cx="142875" cy="14287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5300" y="2457450"/>
            <a:ext cx="7560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Rinde 17,6%</a:t>
            </a:r>
            <a:endParaRPr lang="en-US" sz="975" dirty="0"/>
          </a:p>
        </p:txBody>
      </p:sp>
      <p:sp>
        <p:nvSpPr>
          <p:cNvPr id="34" name="Shape 24"/>
          <p:cNvSpPr/>
          <p:nvPr/>
        </p:nvSpPr>
        <p:spPr>
          <a:xfrm>
            <a:off x="304800" y="2752725"/>
            <a:ext cx="981075" cy="695325"/>
          </a:xfrm>
          <a:prstGeom prst="roundRect">
            <a:avLst>
              <a:gd name="adj" fmla="val 17808"/>
            </a:avLst>
          </a:prstGeom>
          <a:solidFill>
            <a:srgbClr val="ECECF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0563" y="2886075"/>
            <a:ext cx="209550" cy="20955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70905" y="3171825"/>
            <a:ext cx="5250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</a:t>
            </a:r>
            <a:endParaRPr lang="en-US" sz="938" dirty="0"/>
          </a:p>
        </p:txBody>
      </p:sp>
      <p:sp>
        <p:nvSpPr>
          <p:cNvPr id="37" name="Shape 26"/>
          <p:cNvSpPr/>
          <p:nvPr/>
        </p:nvSpPr>
        <p:spPr>
          <a:xfrm>
            <a:off x="1381125" y="2752725"/>
            <a:ext cx="981075" cy="695325"/>
          </a:xfrm>
          <a:prstGeom prst="roundRect">
            <a:avLst>
              <a:gd name="adj" fmla="val 17808"/>
            </a:avLst>
          </a:prstGeom>
          <a:solidFill>
            <a:srgbClr val="ECECFB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66888" y="2886075"/>
            <a:ext cx="209550" cy="20955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606748" y="3171825"/>
            <a:ext cx="605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Transferir</a:t>
            </a:r>
            <a:endParaRPr lang="en-US" sz="938" dirty="0"/>
          </a:p>
        </p:txBody>
      </p:sp>
      <p:sp>
        <p:nvSpPr>
          <p:cNvPr id="40" name="Shape 28"/>
          <p:cNvSpPr/>
          <p:nvPr/>
        </p:nvSpPr>
        <p:spPr>
          <a:xfrm>
            <a:off x="2457450" y="2752725"/>
            <a:ext cx="981075" cy="695325"/>
          </a:xfrm>
          <a:prstGeom prst="roundRect">
            <a:avLst>
              <a:gd name="adj" fmla="val 17808"/>
            </a:avLst>
          </a:prstGeom>
          <a:solidFill>
            <a:srgbClr val="ECECFB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843213" y="2886075"/>
            <a:ext cx="209550" cy="20955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2718197" y="3171825"/>
            <a:ext cx="5357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alias</a:t>
            </a:r>
            <a:endParaRPr lang="en-US" sz="938" dirty="0"/>
          </a:p>
        </p:txBody>
      </p:sp>
      <p:sp>
        <p:nvSpPr>
          <p:cNvPr id="43" name="Text 30"/>
          <p:cNvSpPr/>
          <p:nvPr/>
        </p:nvSpPr>
        <p:spPr>
          <a:xfrm>
            <a:off x="152400" y="3771900"/>
            <a:ext cx="37823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rápidos</a:t>
            </a:r>
            <a:endParaRPr lang="en-US" sz="1200" dirty="0"/>
          </a:p>
        </p:txBody>
      </p:sp>
      <p:sp>
        <p:nvSpPr>
          <p:cNvPr id="44" name="Shape 31"/>
          <p:cNvSpPr/>
          <p:nvPr/>
        </p:nvSpPr>
        <p:spPr>
          <a:xfrm>
            <a:off x="152400" y="4067175"/>
            <a:ext cx="3438525" cy="1847850"/>
          </a:xfrm>
          <a:prstGeom prst="roundRect">
            <a:avLst>
              <a:gd name="adj" fmla="val 9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141E32">
                <a:alpha val="8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591889" y="4171950"/>
            <a:ext cx="401092" cy="133350"/>
          </a:xfrm>
          <a:prstGeom prst="roundRect">
            <a:avLst>
              <a:gd name="adj" fmla="val 50000"/>
            </a:avLst>
          </a:prstGeom>
          <a:solidFill>
            <a:srgbClr val="F23D4F"/>
          </a:solidFill>
          <a:ln/>
          <a:effectLst>
            <a:outerShdw sx="100000" sy="100000" kx="0" ky="0" algn="bl" rotWithShape="0" blurRad="57150" dist="19050" dir="5400000">
              <a:srgbClr val="F23D4F">
                <a:alpha val="40000"/>
              </a:srgbClr>
            </a:outerShdw>
          </a:effectLst>
        </p:spPr>
      </p:sp>
      <p:sp>
        <p:nvSpPr>
          <p:cNvPr id="46" name="Text 33"/>
          <p:cNvSpPr/>
          <p:nvPr/>
        </p:nvSpPr>
        <p:spPr>
          <a:xfrm>
            <a:off x="649039" y="4191000"/>
            <a:ext cx="362992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600" dirty="0"/>
          </a:p>
        </p:txBody>
      </p:sp>
      <p:sp>
        <p:nvSpPr>
          <p:cNvPr id="47" name="Shape 34"/>
          <p:cNvSpPr/>
          <p:nvPr/>
        </p:nvSpPr>
        <p:spPr>
          <a:xfrm>
            <a:off x="420291" y="4238625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5D5FDC"/>
          </a:solidFill>
          <a:ln/>
          <a:effectLst>
            <a:outerShdw sx="100000" sy="100000" kx="0" ky="0" algn="bl" rotWithShape="0" blurRad="114300" dist="38100" dir="5400000">
              <a:srgbClr val="5D5FDC">
                <a:alpha val="40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0303" y="4338638"/>
            <a:ext cx="238125" cy="238125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301228" y="4743450"/>
            <a:ext cx="6761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8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Compartidos</a:t>
            </a:r>
            <a:endParaRPr lang="en-US" sz="788" dirty="0"/>
          </a:p>
        </p:txBody>
      </p:sp>
      <p:sp>
        <p:nvSpPr>
          <p:cNvPr id="50" name="Shape 36"/>
          <p:cNvSpPr/>
          <p:nvPr/>
        </p:nvSpPr>
        <p:spPr>
          <a:xfrm>
            <a:off x="1241822" y="4238625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ECECFB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56122" y="4352925"/>
            <a:ext cx="209550" cy="20955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1214884" y="4743450"/>
            <a:ext cx="4918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8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788" dirty="0"/>
          </a:p>
        </p:txBody>
      </p:sp>
      <p:sp>
        <p:nvSpPr>
          <p:cNvPr id="53" name="Shape 38"/>
          <p:cNvSpPr/>
          <p:nvPr/>
        </p:nvSpPr>
        <p:spPr>
          <a:xfrm>
            <a:off x="2063353" y="4238625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ECECFB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77653" y="4352925"/>
            <a:ext cx="209550" cy="20955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2087017" y="4743450"/>
            <a:ext cx="39082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8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</a:t>
            </a:r>
            <a:endParaRPr lang="en-US" sz="788" dirty="0"/>
          </a:p>
        </p:txBody>
      </p:sp>
      <p:sp>
        <p:nvSpPr>
          <p:cNvPr id="56" name="Shape 40"/>
          <p:cNvSpPr/>
          <p:nvPr/>
        </p:nvSpPr>
        <p:spPr>
          <a:xfrm>
            <a:off x="2884884" y="4238625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ECECFB"/>
          </a:solidFill>
          <a:ln/>
        </p:spPr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999184" y="4352925"/>
            <a:ext cx="209550" cy="20955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2893368" y="4743450"/>
            <a:ext cx="4210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8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</a:t>
            </a:r>
            <a:endParaRPr lang="en-US" sz="788" dirty="0"/>
          </a:p>
        </p:txBody>
      </p:sp>
      <p:sp>
        <p:nvSpPr>
          <p:cNvPr id="59" name="Shape 42"/>
          <p:cNvSpPr/>
          <p:nvPr/>
        </p:nvSpPr>
        <p:spPr>
          <a:xfrm>
            <a:off x="420291" y="5143500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ECECFB"/>
          </a:solidFill>
          <a:ln/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4591" y="5257800"/>
            <a:ext cx="209550" cy="209550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441275" y="5648325"/>
            <a:ext cx="39603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8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788" dirty="0"/>
          </a:p>
        </p:txBody>
      </p:sp>
      <p:sp>
        <p:nvSpPr>
          <p:cNvPr id="62" name="Shape 44"/>
          <p:cNvSpPr/>
          <p:nvPr/>
        </p:nvSpPr>
        <p:spPr>
          <a:xfrm>
            <a:off x="1241822" y="5143500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ECECFB"/>
          </a:solidFill>
          <a:ln/>
        </p:spPr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56122" y="5257800"/>
            <a:ext cx="209550" cy="209550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1330821" y="5648325"/>
            <a:ext cx="2601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88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endParaRPr lang="en-US" sz="788" dirty="0"/>
          </a:p>
        </p:txBody>
      </p:sp>
      <p:sp>
        <p:nvSpPr>
          <p:cNvPr id="65" name="Shape 46"/>
          <p:cNvSpPr/>
          <p:nvPr/>
        </p:nvSpPr>
        <p:spPr>
          <a:xfrm>
            <a:off x="152400" y="6067425"/>
            <a:ext cx="3438525" cy="619125"/>
          </a:xfrm>
          <a:prstGeom prst="roundRect">
            <a:avLst>
              <a:gd name="adj" fmla="val 24615"/>
            </a:avLst>
          </a:prstGeom>
          <a:gradFill rotWithShape="1">
            <a:gsLst>
              <a:gs pos="0">
                <a:srgbClr val="0D2B3E">
                  <a:alpha val="100000"/>
                </a:srgbClr>
              </a:gs>
              <a:gs pos="100000">
                <a:srgbClr val="124E6B">
                  <a:alpha val="100000"/>
                </a:srgbClr>
              </a:gs>
            </a:gsLst>
            <a:lin ang="600000" scaled="0"/>
          </a:gradFill>
          <a:ln/>
        </p:spPr>
      </p:sp>
      <p:sp>
        <p:nvSpPr>
          <p:cNvPr id="66" name="Text 47"/>
          <p:cNvSpPr/>
          <p:nvPr/>
        </p:nvSpPr>
        <p:spPr>
          <a:xfrm>
            <a:off x="323850" y="6219825"/>
            <a:ext cx="20023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7FD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RENDIMIENTOS</a:t>
            </a:r>
            <a:endParaRPr lang="en-US" sz="825" dirty="0"/>
          </a:p>
        </p:txBody>
      </p:sp>
      <p:sp>
        <p:nvSpPr>
          <p:cNvPr id="67" name="Text 48"/>
          <p:cNvSpPr/>
          <p:nvPr/>
        </p:nvSpPr>
        <p:spPr>
          <a:xfrm>
            <a:off x="323850" y="6372225"/>
            <a:ext cx="20023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dinero gana todos los días</a:t>
            </a:r>
            <a:endParaRPr lang="en-US" sz="1050" dirty="0"/>
          </a:p>
        </p:txBody>
      </p:sp>
      <p:sp>
        <p:nvSpPr>
          <p:cNvPr id="68" name="Text 49"/>
          <p:cNvSpPr/>
          <p:nvPr/>
        </p:nvSpPr>
        <p:spPr>
          <a:xfrm>
            <a:off x="2870299" y="6262688"/>
            <a:ext cx="6253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29,8%</a:t>
            </a:r>
            <a:endParaRPr lang="en-US" sz="1500" dirty="0"/>
          </a:p>
        </p:txBody>
      </p:sp>
      <p:sp>
        <p:nvSpPr>
          <p:cNvPr id="69" name="Text 50"/>
          <p:cNvSpPr/>
          <p:nvPr/>
        </p:nvSpPr>
        <p:spPr>
          <a:xfrm>
            <a:off x="152400" y="6838950"/>
            <a:ext cx="8816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actividad</a:t>
            </a:r>
            <a:endParaRPr lang="en-US" sz="1125" dirty="0"/>
          </a:p>
        </p:txBody>
      </p:sp>
      <p:sp>
        <p:nvSpPr>
          <p:cNvPr id="70" name="Text 51"/>
          <p:cNvSpPr/>
          <p:nvPr/>
        </p:nvSpPr>
        <p:spPr>
          <a:xfrm>
            <a:off x="3118842" y="6853238"/>
            <a:ext cx="54828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todo</a:t>
            </a:r>
            <a:endParaRPr lang="en-US" sz="938" dirty="0"/>
          </a:p>
        </p:txBody>
      </p:sp>
      <p:sp>
        <p:nvSpPr>
          <p:cNvPr id="71" name="Shape 52"/>
          <p:cNvSpPr/>
          <p:nvPr/>
        </p:nvSpPr>
        <p:spPr>
          <a:xfrm>
            <a:off x="152400" y="7105650"/>
            <a:ext cx="3438525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72" name="Shape 53"/>
          <p:cNvSpPr/>
          <p:nvPr/>
        </p:nvSpPr>
        <p:spPr>
          <a:xfrm>
            <a:off x="285750" y="7734300"/>
            <a:ext cx="31718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3" name="Shape 54"/>
          <p:cNvSpPr/>
          <p:nvPr/>
        </p:nvSpPr>
        <p:spPr>
          <a:xfrm>
            <a:off x="285750" y="7258050"/>
            <a:ext cx="361950" cy="361950"/>
          </a:xfrm>
          <a:prstGeom prst="ellipse">
            <a:avLst/>
          </a:prstGeom>
          <a:solidFill>
            <a:srgbClr val="ECECFB"/>
          </a:solidFill>
          <a:ln/>
        </p:spPr>
      </p:sp>
      <p:sp>
        <p:nvSpPr>
          <p:cNvPr id="74" name="Text 55"/>
          <p:cNvSpPr/>
          <p:nvPr/>
        </p:nvSpPr>
        <p:spPr>
          <a:xfrm>
            <a:off x="247650" y="72580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🏔️</a:t>
            </a:r>
            <a:endParaRPr lang="en-US" sz="1200" dirty="0"/>
          </a:p>
        </p:txBody>
      </p:sp>
      <p:sp>
        <p:nvSpPr>
          <p:cNvPr id="75" name="Text 56"/>
          <p:cNvSpPr/>
          <p:nvPr/>
        </p:nvSpPr>
        <p:spPr>
          <a:xfrm>
            <a:off x="762000" y="7300913"/>
            <a:ext cx="26837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</a:t>
            </a:r>
            <a:endParaRPr lang="en-US" sz="1013" dirty="0"/>
          </a:p>
        </p:txBody>
      </p:sp>
      <p:sp>
        <p:nvSpPr>
          <p:cNvPr id="76" name="Text 57"/>
          <p:cNvSpPr/>
          <p:nvPr/>
        </p:nvSpPr>
        <p:spPr>
          <a:xfrm>
            <a:off x="762000" y="7453312"/>
            <a:ext cx="26837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compartido</a:t>
            </a:r>
            <a:endParaRPr lang="en-US" sz="825" dirty="0"/>
          </a:p>
        </p:txBody>
      </p:sp>
      <p:sp>
        <p:nvSpPr>
          <p:cNvPr id="77" name="Text 58"/>
          <p:cNvSpPr/>
          <p:nvPr/>
        </p:nvSpPr>
        <p:spPr>
          <a:xfrm>
            <a:off x="3316039" y="7362825"/>
            <a:ext cx="2177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13" dirty="0"/>
          </a:p>
        </p:txBody>
      </p:sp>
      <p:sp>
        <p:nvSpPr>
          <p:cNvPr id="78" name="Shape 59"/>
          <p:cNvSpPr/>
          <p:nvPr/>
        </p:nvSpPr>
        <p:spPr>
          <a:xfrm>
            <a:off x="285750" y="7858125"/>
            <a:ext cx="361950" cy="361950"/>
          </a:xfrm>
          <a:prstGeom prst="ellipse">
            <a:avLst/>
          </a:prstGeom>
          <a:solidFill>
            <a:srgbClr val="ECECFB"/>
          </a:solidFill>
          <a:ln/>
        </p:spPr>
      </p:sp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1000" y="7953375"/>
            <a:ext cx="171450" cy="171450"/>
          </a:xfrm>
          <a:prstGeom prst="rect">
            <a:avLst/>
          </a:prstGeom>
        </p:spPr>
      </p:pic>
      <p:sp>
        <p:nvSpPr>
          <p:cNvPr id="80" name="Text 60"/>
          <p:cNvSpPr/>
          <p:nvPr/>
        </p:nvSpPr>
        <p:spPr>
          <a:xfrm>
            <a:off x="762000" y="7900988"/>
            <a:ext cx="23207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Transferiste a Juan P.</a:t>
            </a:r>
            <a:endParaRPr lang="en-US" sz="1013" dirty="0"/>
          </a:p>
        </p:txBody>
      </p:sp>
      <p:sp>
        <p:nvSpPr>
          <p:cNvPr id="81" name="Text 61"/>
          <p:cNvSpPr/>
          <p:nvPr/>
        </p:nvSpPr>
        <p:spPr>
          <a:xfrm>
            <a:off x="762000" y="8053387"/>
            <a:ext cx="23207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Ayer</a:t>
            </a:r>
            <a:endParaRPr lang="en-US" sz="825" dirty="0"/>
          </a:p>
        </p:txBody>
      </p:sp>
      <p:sp>
        <p:nvSpPr>
          <p:cNvPr id="82" name="Text 62"/>
          <p:cNvSpPr/>
          <p:nvPr/>
        </p:nvSpPr>
        <p:spPr>
          <a:xfrm>
            <a:off x="2986088" y="7962900"/>
            <a:ext cx="5476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23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-$6.200</a:t>
            </a:r>
            <a:endParaRPr lang="en-US" sz="1013" dirty="0"/>
          </a:p>
        </p:txBody>
      </p:sp>
      <p:sp>
        <p:nvSpPr>
          <p:cNvPr id="83" name="Shape 63"/>
          <p:cNvSpPr/>
          <p:nvPr/>
        </p:nvSpPr>
        <p:spPr>
          <a:xfrm>
            <a:off x="0" y="7848600"/>
            <a:ext cx="3743325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64"/>
          <p:cNvSpPr/>
          <p:nvPr/>
        </p:nvSpPr>
        <p:spPr>
          <a:xfrm>
            <a:off x="0" y="7848600"/>
            <a:ext cx="3743325" cy="9525"/>
          </a:xfrm>
          <a:prstGeom prst="rect">
            <a:avLst/>
          </a:prstGeom>
          <a:solidFill>
            <a:srgbClr val="EEEEEE"/>
          </a:solidFill>
          <a:ln/>
        </p:spPr>
      </p:sp>
      <p:pic>
        <p:nvPicPr>
          <p:cNvPr id="85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00038" y="7924800"/>
            <a:ext cx="219075" cy="219075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251668" y="8172450"/>
            <a:ext cx="3918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750" dirty="0"/>
          </a:p>
        </p:txBody>
      </p:sp>
      <p:pic>
        <p:nvPicPr>
          <p:cNvPr id="87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31081" y="7924800"/>
            <a:ext cx="219075" cy="219075"/>
          </a:xfrm>
          <a:prstGeom prst="rect">
            <a:avLst/>
          </a:prstGeom>
        </p:spPr>
      </p:pic>
      <p:sp>
        <p:nvSpPr>
          <p:cNvPr id="88" name="Text 66"/>
          <p:cNvSpPr/>
          <p:nvPr/>
        </p:nvSpPr>
        <p:spPr>
          <a:xfrm>
            <a:off x="969020" y="8172450"/>
            <a:ext cx="41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</a:t>
            </a:r>
            <a:endParaRPr lang="en-US" sz="750" dirty="0"/>
          </a:p>
        </p:txBody>
      </p:sp>
      <p:sp>
        <p:nvSpPr>
          <p:cNvPr id="89" name="Shape 67"/>
          <p:cNvSpPr/>
          <p:nvPr/>
        </p:nvSpPr>
        <p:spPr>
          <a:xfrm>
            <a:off x="1652588" y="7800975"/>
            <a:ext cx="438150" cy="438150"/>
          </a:xfrm>
          <a:prstGeom prst="ellipse">
            <a:avLst/>
          </a:prstGeom>
          <a:solidFill>
            <a:srgbClr val="5D5FDC"/>
          </a:solidFill>
          <a:ln/>
          <a:effectLst>
            <a:outerShdw sx="100000" sy="100000" kx="0" ky="0" algn="bl" rotWithShape="0" blurRad="133350" dist="57150" dir="5400000">
              <a:srgbClr val="5D5FDC">
                <a:alpha val="45000"/>
              </a:srgbClr>
            </a:outerShdw>
          </a:effectLst>
        </p:spPr>
      </p:sp>
      <p:pic>
        <p:nvPicPr>
          <p:cNvPr id="90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757363" y="7905750"/>
            <a:ext cx="228600" cy="228600"/>
          </a:xfrm>
          <a:prstGeom prst="rect">
            <a:avLst/>
          </a:prstGeom>
        </p:spPr>
      </p:pic>
      <p:sp>
        <p:nvSpPr>
          <p:cNvPr id="91" name="Text 68"/>
          <p:cNvSpPr/>
          <p:nvPr/>
        </p:nvSpPr>
        <p:spPr>
          <a:xfrm>
            <a:off x="1803797" y="8267700"/>
            <a:ext cx="2117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750" dirty="0"/>
          </a:p>
        </p:txBody>
      </p:sp>
      <p:pic>
        <p:nvPicPr>
          <p:cNvPr id="92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493169" y="7924800"/>
            <a:ext cx="219075" cy="219075"/>
          </a:xfrm>
          <a:prstGeom prst="rect">
            <a:avLst/>
          </a:prstGeom>
        </p:spPr>
      </p:pic>
      <p:sp>
        <p:nvSpPr>
          <p:cNvPr id="93" name="Text 69"/>
          <p:cNvSpPr/>
          <p:nvPr/>
        </p:nvSpPr>
        <p:spPr>
          <a:xfrm>
            <a:off x="2404765" y="8172450"/>
            <a:ext cx="4720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750" dirty="0"/>
          </a:p>
        </p:txBody>
      </p:sp>
      <p:pic>
        <p:nvPicPr>
          <p:cNvPr id="94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24213" y="7924800"/>
            <a:ext cx="219075" cy="219075"/>
          </a:xfrm>
          <a:prstGeom prst="rect">
            <a:avLst/>
          </a:prstGeom>
        </p:spPr>
      </p:pic>
      <p:sp>
        <p:nvSpPr>
          <p:cNvPr id="95" name="Text 70"/>
          <p:cNvSpPr/>
          <p:nvPr/>
        </p:nvSpPr>
        <p:spPr>
          <a:xfrm>
            <a:off x="3246090" y="8172450"/>
            <a:ext cx="251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endParaRPr lang="en-US" sz="750" dirty="0"/>
          </a:p>
        </p:txBody>
      </p:sp>
      <p:sp>
        <p:nvSpPr>
          <p:cNvPr id="96" name="Shape 71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72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69309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— Estado vacío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1019175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350" y="1023938"/>
            <a:ext cx="1906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Compartidos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3209925" y="952500"/>
            <a:ext cx="361950" cy="361950"/>
          </a:xfrm>
          <a:prstGeom prst="ellipse">
            <a:avLst/>
          </a:prstGeom>
          <a:solidFill>
            <a:srgbClr val="5D5FDC"/>
          </a:solidFill>
          <a:ln/>
          <a:effectLst>
            <a:outerShdw sx="100000" sy="100000" kx="0" ky="0" algn="bl" rotWithShape="0" blurRad="95250" dist="38100" dir="5400000">
              <a:srgbClr val="5D5FDC">
                <a:alpha val="3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86125" y="1028700"/>
            <a:ext cx="209550" cy="2095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1447800"/>
            <a:ext cx="3743325" cy="5705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1"/>
          <p:cNvSpPr/>
          <p:nvPr/>
        </p:nvSpPr>
        <p:spPr>
          <a:xfrm>
            <a:off x="1157288" y="2838450"/>
            <a:ext cx="1428750" cy="1428750"/>
          </a:xfrm>
          <a:prstGeom prst="ellipse">
            <a:avLst/>
          </a:prstGeom>
          <a:solidFill>
            <a:srgbClr val="ECECF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09713" y="3190875"/>
            <a:ext cx="723900" cy="7239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262188" y="3009900"/>
            <a:ext cx="133350" cy="133350"/>
          </a:xfrm>
          <a:prstGeom prst="ellipse">
            <a:avLst/>
          </a:prstGeom>
          <a:solidFill>
            <a:srgbClr val="FFD15C"/>
          </a:solidFill>
          <a:ln/>
        </p:spPr>
      </p:sp>
      <p:sp>
        <p:nvSpPr>
          <p:cNvPr id="21" name="Shape 13"/>
          <p:cNvSpPr/>
          <p:nvPr/>
        </p:nvSpPr>
        <p:spPr>
          <a:xfrm>
            <a:off x="1309688" y="3943350"/>
            <a:ext cx="95250" cy="9525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22" name="Text 14"/>
          <p:cNvSpPr/>
          <p:nvPr/>
        </p:nvSpPr>
        <p:spPr>
          <a:xfrm>
            <a:off x="1051173" y="4552950"/>
            <a:ext cx="16409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 no tenés fondos activos</a:t>
            </a:r>
            <a:endParaRPr lang="en-US" sz="1575" dirty="0"/>
          </a:p>
        </p:txBody>
      </p:sp>
      <p:sp>
        <p:nvSpPr>
          <p:cNvPr id="23" name="Text 15"/>
          <p:cNvSpPr/>
          <p:nvPr/>
        </p:nvSpPr>
        <p:spPr>
          <a:xfrm>
            <a:off x="642938" y="5162550"/>
            <a:ext cx="2457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Creá un fondo compartido para juntar plata con tu grupo y gastar juntos, sin vueltas.</a:t>
            </a:r>
            <a:endParaRPr lang="en-US" sz="1088" dirty="0"/>
          </a:p>
        </p:txBody>
      </p:sp>
      <p:sp>
        <p:nvSpPr>
          <p:cNvPr id="24" name="Shape 16"/>
          <p:cNvSpPr/>
          <p:nvPr/>
        </p:nvSpPr>
        <p:spPr>
          <a:xfrm>
            <a:off x="0" y="7153275"/>
            <a:ext cx="3743325" cy="695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7"/>
          <p:cNvSpPr/>
          <p:nvPr/>
        </p:nvSpPr>
        <p:spPr>
          <a:xfrm>
            <a:off x="190500" y="7286625"/>
            <a:ext cx="33623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26" name="Text 18"/>
          <p:cNvSpPr/>
          <p:nvPr/>
        </p:nvSpPr>
        <p:spPr>
          <a:xfrm>
            <a:off x="292465" y="7439025"/>
            <a:ext cx="31583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mi primer fondo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0" y="7848600"/>
            <a:ext cx="3743325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0"/>
          <p:cNvSpPr/>
          <p:nvPr/>
        </p:nvSpPr>
        <p:spPr>
          <a:xfrm>
            <a:off x="0" y="7848600"/>
            <a:ext cx="3743325" cy="9525"/>
          </a:xfrm>
          <a:prstGeom prst="rect">
            <a:avLst/>
          </a:prstGeom>
          <a:solidFill>
            <a:srgbClr val="EEEEE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0038" y="7924800"/>
            <a:ext cx="219075" cy="21907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51668" y="8172450"/>
            <a:ext cx="3918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1081" y="7924800"/>
            <a:ext cx="219075" cy="21907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69020" y="8172450"/>
            <a:ext cx="41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</a:t>
            </a:r>
            <a:endParaRPr lang="en-US" sz="750" dirty="0"/>
          </a:p>
        </p:txBody>
      </p:sp>
      <p:sp>
        <p:nvSpPr>
          <p:cNvPr id="33" name="Shape 23"/>
          <p:cNvSpPr/>
          <p:nvPr/>
        </p:nvSpPr>
        <p:spPr>
          <a:xfrm>
            <a:off x="1652588" y="7800975"/>
            <a:ext cx="438150" cy="438150"/>
          </a:xfrm>
          <a:prstGeom prst="ellipse">
            <a:avLst/>
          </a:prstGeom>
          <a:solidFill>
            <a:srgbClr val="5D5FDC"/>
          </a:solidFill>
          <a:ln/>
          <a:effectLst>
            <a:outerShdw sx="100000" sy="100000" kx="0" ky="0" algn="bl" rotWithShape="0" blurRad="133350" dist="57150" dir="5400000">
              <a:srgbClr val="5D5FDC">
                <a:alpha val="45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57363" y="7905750"/>
            <a:ext cx="228600" cy="22860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803797" y="8267700"/>
            <a:ext cx="2117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7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93169" y="7924800"/>
            <a:ext cx="219075" cy="21907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2404765" y="8172450"/>
            <a:ext cx="4720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7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224213" y="7924800"/>
            <a:ext cx="219075" cy="219075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246090" y="8172450"/>
            <a:ext cx="251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endParaRPr lang="en-US" sz="750" dirty="0"/>
          </a:p>
        </p:txBody>
      </p:sp>
      <p:sp>
        <p:nvSpPr>
          <p:cNvPr id="40" name="Shape 27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28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215672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fondo — Tipo y nombre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400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9525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957263"/>
            <a:ext cx="10743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fondo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0" y="1314450"/>
            <a:ext cx="3743325" cy="180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171450" y="1352550"/>
            <a:ext cx="1342430" cy="47625"/>
          </a:xfrm>
          <a:prstGeom prst="roundRect">
            <a:avLst>
              <a:gd name="adj" fmla="val 50000"/>
            </a:avLst>
          </a:prstGeom>
          <a:solidFill>
            <a:srgbClr val="5D5FDC"/>
          </a:solidFill>
          <a:ln/>
        </p:spPr>
      </p:sp>
      <p:sp>
        <p:nvSpPr>
          <p:cNvPr id="17" name="Shape 11"/>
          <p:cNvSpPr/>
          <p:nvPr/>
        </p:nvSpPr>
        <p:spPr>
          <a:xfrm>
            <a:off x="1609130" y="1352550"/>
            <a:ext cx="1342430" cy="47625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</p:sp>
      <p:sp>
        <p:nvSpPr>
          <p:cNvPr id="18" name="Text 12"/>
          <p:cNvSpPr/>
          <p:nvPr/>
        </p:nvSpPr>
        <p:spPr>
          <a:xfrm>
            <a:off x="3046809" y="1314450"/>
            <a:ext cx="601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de 2</a:t>
            </a:r>
            <a:endParaRPr lang="en-US" sz="825" dirty="0"/>
          </a:p>
        </p:txBody>
      </p:sp>
      <p:sp>
        <p:nvSpPr>
          <p:cNvPr id="19" name="Shape 13"/>
          <p:cNvSpPr/>
          <p:nvPr/>
        </p:nvSpPr>
        <p:spPr>
          <a:xfrm>
            <a:off x="0" y="1495425"/>
            <a:ext cx="3743325" cy="620077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4"/>
          <p:cNvSpPr/>
          <p:nvPr/>
        </p:nvSpPr>
        <p:spPr>
          <a:xfrm>
            <a:off x="171450" y="1704975"/>
            <a:ext cx="37404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tipo de fondo es?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71450" y="1952625"/>
            <a:ext cx="37404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Elegí una categoría para tu fondo</a:t>
            </a:r>
            <a:endParaRPr lang="en-US" sz="975" dirty="0"/>
          </a:p>
        </p:txBody>
      </p:sp>
      <p:sp>
        <p:nvSpPr>
          <p:cNvPr id="22" name="Shape 16"/>
          <p:cNvSpPr/>
          <p:nvPr/>
        </p:nvSpPr>
        <p:spPr>
          <a:xfrm>
            <a:off x="171450" y="2266950"/>
            <a:ext cx="1063526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9050">
            <a:solidFill>
              <a:srgbClr val="5D5FDC"/>
            </a:solidFill>
            <a:prstDash val="solid"/>
          </a:ln>
          <a:effectLst>
            <a:outerShdw sx="100000" sy="100000" kx="0" ky="0" algn="bl" rotWithShape="0" blurRad="114300" dist="38100" dir="5400000">
              <a:srgbClr val="5D5FDC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87326" y="2352675"/>
            <a:ext cx="161925" cy="161925"/>
          </a:xfrm>
          <a:prstGeom prst="ellipse">
            <a:avLst/>
          </a:prstGeom>
          <a:solidFill>
            <a:srgbClr val="5D5FD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5901" y="2381250"/>
            <a:ext cx="104775" cy="1047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9863" y="2428875"/>
            <a:ext cx="342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875" dirty="0"/>
          </a:p>
        </p:txBody>
      </p:sp>
      <p:sp>
        <p:nvSpPr>
          <p:cNvPr id="26" name="Text 19"/>
          <p:cNvSpPr/>
          <p:nvPr/>
        </p:nvSpPr>
        <p:spPr>
          <a:xfrm>
            <a:off x="562570" y="2781300"/>
            <a:ext cx="3574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</a:t>
            </a:r>
            <a:endParaRPr lang="en-US" sz="938" dirty="0"/>
          </a:p>
        </p:txBody>
      </p:sp>
      <p:sp>
        <p:nvSpPr>
          <p:cNvPr id="27" name="Shape 20"/>
          <p:cNvSpPr/>
          <p:nvPr/>
        </p:nvSpPr>
        <p:spPr>
          <a:xfrm>
            <a:off x="1339751" y="2266950"/>
            <a:ext cx="1063675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9050">
            <a:solidFill>
              <a:srgbClr val="EEEEE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738164" y="2428875"/>
            <a:ext cx="342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875" dirty="0"/>
          </a:p>
        </p:txBody>
      </p:sp>
      <p:sp>
        <p:nvSpPr>
          <p:cNvPr id="29" name="Text 22"/>
          <p:cNvSpPr/>
          <p:nvPr/>
        </p:nvSpPr>
        <p:spPr>
          <a:xfrm>
            <a:off x="1738313" y="2781300"/>
            <a:ext cx="3426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</a:t>
            </a:r>
            <a:endParaRPr lang="en-US" sz="938" dirty="0"/>
          </a:p>
        </p:txBody>
      </p:sp>
      <p:sp>
        <p:nvSpPr>
          <p:cNvPr id="30" name="Shape 23"/>
          <p:cNvSpPr/>
          <p:nvPr/>
        </p:nvSpPr>
        <p:spPr>
          <a:xfrm>
            <a:off x="2508200" y="2266950"/>
            <a:ext cx="1063675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9050">
            <a:solidFill>
              <a:srgbClr val="EEEEE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906613" y="2428875"/>
            <a:ext cx="342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875" dirty="0"/>
          </a:p>
        </p:txBody>
      </p:sp>
      <p:sp>
        <p:nvSpPr>
          <p:cNvPr id="32" name="Text 25"/>
          <p:cNvSpPr/>
          <p:nvPr/>
        </p:nvSpPr>
        <p:spPr>
          <a:xfrm>
            <a:off x="2849463" y="2781300"/>
            <a:ext cx="4572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938" dirty="0"/>
          </a:p>
        </p:txBody>
      </p:sp>
      <p:sp>
        <p:nvSpPr>
          <p:cNvPr id="33" name="Shape 26"/>
          <p:cNvSpPr/>
          <p:nvPr/>
        </p:nvSpPr>
        <p:spPr>
          <a:xfrm>
            <a:off x="171450" y="3190875"/>
            <a:ext cx="1063526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9050">
            <a:solidFill>
              <a:srgbClr val="EEEEE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69863" y="3352800"/>
            <a:ext cx="342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1875" dirty="0"/>
          </a:p>
        </p:txBody>
      </p:sp>
      <p:sp>
        <p:nvSpPr>
          <p:cNvPr id="35" name="Text 28"/>
          <p:cNvSpPr/>
          <p:nvPr/>
        </p:nvSpPr>
        <p:spPr>
          <a:xfrm>
            <a:off x="517178" y="3705225"/>
            <a:ext cx="4482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Regalo</a:t>
            </a:r>
            <a:endParaRPr lang="en-US" sz="938" dirty="0"/>
          </a:p>
        </p:txBody>
      </p:sp>
      <p:sp>
        <p:nvSpPr>
          <p:cNvPr id="36" name="Shape 29"/>
          <p:cNvSpPr/>
          <p:nvPr/>
        </p:nvSpPr>
        <p:spPr>
          <a:xfrm>
            <a:off x="1339751" y="3190875"/>
            <a:ext cx="1063675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9050">
            <a:solidFill>
              <a:srgbClr val="EEEEEE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738164" y="3352800"/>
            <a:ext cx="342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1875" dirty="0"/>
          </a:p>
        </p:txBody>
      </p:sp>
      <p:sp>
        <p:nvSpPr>
          <p:cNvPr id="38" name="Text 31"/>
          <p:cNvSpPr/>
          <p:nvPr/>
        </p:nvSpPr>
        <p:spPr>
          <a:xfrm>
            <a:off x="1745307" y="3705225"/>
            <a:ext cx="3286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</a:t>
            </a:r>
            <a:endParaRPr lang="en-US" sz="938" dirty="0"/>
          </a:p>
        </p:txBody>
      </p:sp>
      <p:sp>
        <p:nvSpPr>
          <p:cNvPr id="39" name="Text 32"/>
          <p:cNvSpPr/>
          <p:nvPr/>
        </p:nvSpPr>
        <p:spPr>
          <a:xfrm>
            <a:off x="171450" y="4257675"/>
            <a:ext cx="37404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fondo</a:t>
            </a:r>
            <a:endParaRPr lang="en-US" sz="975" dirty="0"/>
          </a:p>
        </p:txBody>
      </p:sp>
      <p:sp>
        <p:nvSpPr>
          <p:cNvPr id="40" name="Shape 33"/>
          <p:cNvSpPr/>
          <p:nvPr/>
        </p:nvSpPr>
        <p:spPr>
          <a:xfrm>
            <a:off x="171450" y="4476750"/>
            <a:ext cx="3400425" cy="504825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  <a:effectLst>
            <a:outerShdw sx="100000" sy="100000" kx="0" ky="0" algn="bl" rotWithShape="0" blurRad="101600" dist="50800" dir="16200000">
              <a:srgbClr val="5D5FDC">
                <a:alpha val="12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319088" y="4638675"/>
            <a:ext cx="1482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 🏔️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1744563" y="4633913"/>
            <a:ext cx="14288" cy="19050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43" name="Text 36"/>
          <p:cNvSpPr/>
          <p:nvPr/>
        </p:nvSpPr>
        <p:spPr>
          <a:xfrm>
            <a:off x="-168592" y="5048250"/>
            <a:ext cx="37404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40</a:t>
            </a:r>
            <a:endParaRPr lang="en-US" sz="863" dirty="0"/>
          </a:p>
        </p:txBody>
      </p:sp>
      <p:sp>
        <p:nvSpPr>
          <p:cNvPr id="44" name="Shape 37"/>
          <p:cNvSpPr/>
          <p:nvPr/>
        </p:nvSpPr>
        <p:spPr>
          <a:xfrm>
            <a:off x="0" y="7696200"/>
            <a:ext cx="374332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0" y="7696200"/>
            <a:ext cx="37433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6" name="Shape 39"/>
          <p:cNvSpPr/>
          <p:nvPr/>
        </p:nvSpPr>
        <p:spPr>
          <a:xfrm>
            <a:off x="190500" y="7820025"/>
            <a:ext cx="33623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47" name="Text 40"/>
          <p:cNvSpPr/>
          <p:nvPr/>
        </p:nvSpPr>
        <p:spPr>
          <a:xfrm>
            <a:off x="292465" y="7972425"/>
            <a:ext cx="31583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2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21469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fondo — Configuración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400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9525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957263"/>
            <a:ext cx="1265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0" y="1314450"/>
            <a:ext cx="3743325" cy="180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171450" y="1352550"/>
            <a:ext cx="1334542" cy="47625"/>
          </a:xfrm>
          <a:prstGeom prst="roundRect">
            <a:avLst>
              <a:gd name="adj" fmla="val 50000"/>
            </a:avLst>
          </a:prstGeom>
          <a:solidFill>
            <a:srgbClr val="5D5FDC"/>
          </a:solidFill>
          <a:ln/>
        </p:spPr>
      </p:sp>
      <p:sp>
        <p:nvSpPr>
          <p:cNvPr id="17" name="Shape 11"/>
          <p:cNvSpPr/>
          <p:nvPr/>
        </p:nvSpPr>
        <p:spPr>
          <a:xfrm>
            <a:off x="1601242" y="1352550"/>
            <a:ext cx="1334542" cy="47625"/>
          </a:xfrm>
          <a:prstGeom prst="roundRect">
            <a:avLst>
              <a:gd name="adj" fmla="val 50000"/>
            </a:avLst>
          </a:prstGeom>
          <a:solidFill>
            <a:srgbClr val="5D5FDC"/>
          </a:solidFill>
          <a:ln/>
        </p:spPr>
      </p:sp>
      <p:sp>
        <p:nvSpPr>
          <p:cNvPr id="18" name="Text 12"/>
          <p:cNvSpPr/>
          <p:nvPr/>
        </p:nvSpPr>
        <p:spPr>
          <a:xfrm>
            <a:off x="3031034" y="1314450"/>
            <a:ext cx="6171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de 2</a:t>
            </a:r>
            <a:endParaRPr lang="en-US" sz="825" dirty="0"/>
          </a:p>
        </p:txBody>
      </p:sp>
      <p:sp>
        <p:nvSpPr>
          <p:cNvPr id="19" name="Shape 13"/>
          <p:cNvSpPr/>
          <p:nvPr/>
        </p:nvSpPr>
        <p:spPr>
          <a:xfrm>
            <a:off x="0" y="1495425"/>
            <a:ext cx="3743325" cy="620077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4"/>
          <p:cNvSpPr/>
          <p:nvPr/>
        </p:nvSpPr>
        <p:spPr>
          <a:xfrm>
            <a:off x="171450" y="1685925"/>
            <a:ext cx="15393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2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DEL FONDO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171450" y="1962150"/>
            <a:ext cx="3400425" cy="1590675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323850" y="2752725"/>
            <a:ext cx="30956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7"/>
          <p:cNvSpPr/>
          <p:nvPr/>
        </p:nvSpPr>
        <p:spPr>
          <a:xfrm>
            <a:off x="323850" y="2143125"/>
            <a:ext cx="2095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¿Todos pueden gastar?</a:t>
            </a:r>
            <a:endParaRPr lang="en-US" sz="1088" dirty="0"/>
          </a:p>
        </p:txBody>
      </p:sp>
      <p:sp>
        <p:nvSpPr>
          <p:cNvPr id="24" name="Text 18"/>
          <p:cNvSpPr/>
          <p:nvPr/>
        </p:nvSpPr>
        <p:spPr>
          <a:xfrm>
            <a:off x="323850" y="2343150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está apagado, solo el administrador gasta</a:t>
            </a:r>
            <a:endParaRPr lang="en-US" sz="863" dirty="0"/>
          </a:p>
        </p:txBody>
      </p:sp>
      <p:sp>
        <p:nvSpPr>
          <p:cNvPr id="25" name="Shape 19"/>
          <p:cNvSpPr/>
          <p:nvPr/>
        </p:nvSpPr>
        <p:spPr>
          <a:xfrm>
            <a:off x="2962275" y="2243138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26" name="Shape 20"/>
          <p:cNvSpPr/>
          <p:nvPr/>
        </p:nvSpPr>
        <p:spPr>
          <a:xfrm>
            <a:off x="2990850" y="2271713"/>
            <a:ext cx="209550" cy="2095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2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323850" y="2905125"/>
            <a:ext cx="2095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grupal</a:t>
            </a:r>
            <a:endParaRPr lang="en-US" sz="1088" dirty="0"/>
          </a:p>
        </p:txBody>
      </p:sp>
      <p:sp>
        <p:nvSpPr>
          <p:cNvPr id="28" name="Text 22"/>
          <p:cNvSpPr/>
          <p:nvPr/>
        </p:nvSpPr>
        <p:spPr>
          <a:xfrm>
            <a:off x="323850" y="3105150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Requerir aprobación para gastos grandes</a:t>
            </a:r>
            <a:endParaRPr lang="en-US" sz="863" dirty="0"/>
          </a:p>
        </p:txBody>
      </p:sp>
      <p:sp>
        <p:nvSpPr>
          <p:cNvPr id="29" name="Shape 23"/>
          <p:cNvSpPr/>
          <p:nvPr/>
        </p:nvSpPr>
        <p:spPr>
          <a:xfrm>
            <a:off x="2962275" y="3005138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5D5FDC"/>
          </a:solidFill>
          <a:ln/>
        </p:spPr>
      </p:sp>
      <p:sp>
        <p:nvSpPr>
          <p:cNvPr id="30" name="Shape 24"/>
          <p:cNvSpPr/>
          <p:nvPr/>
        </p:nvSpPr>
        <p:spPr>
          <a:xfrm>
            <a:off x="3181350" y="3033713"/>
            <a:ext cx="209550" cy="2095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2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171450" y="3743325"/>
            <a:ext cx="7448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2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975" dirty="0"/>
          </a:p>
        </p:txBody>
      </p:sp>
      <p:sp>
        <p:nvSpPr>
          <p:cNvPr id="32" name="Text 26"/>
          <p:cNvSpPr/>
          <p:nvPr/>
        </p:nvSpPr>
        <p:spPr>
          <a:xfrm>
            <a:off x="171450" y="4019550"/>
            <a:ext cx="37404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mínimo de contribución</a:t>
            </a:r>
            <a:endParaRPr lang="en-US" sz="975" dirty="0"/>
          </a:p>
        </p:txBody>
      </p:sp>
      <p:sp>
        <p:nvSpPr>
          <p:cNvPr id="33" name="Shape 27"/>
          <p:cNvSpPr/>
          <p:nvPr/>
        </p:nvSpPr>
        <p:spPr>
          <a:xfrm>
            <a:off x="171450" y="4238625"/>
            <a:ext cx="3400425" cy="48577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4288">
            <a:solidFill>
              <a:srgbClr val="E3E3E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19088" y="4395788"/>
            <a:ext cx="15597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125" dirty="0"/>
          </a:p>
        </p:txBody>
      </p:sp>
      <p:sp>
        <p:nvSpPr>
          <p:cNvPr id="35" name="Text 29"/>
          <p:cNvSpPr/>
          <p:nvPr/>
        </p:nvSpPr>
        <p:spPr>
          <a:xfrm>
            <a:off x="456009" y="4395788"/>
            <a:ext cx="6487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125" dirty="0"/>
          </a:p>
        </p:txBody>
      </p:sp>
      <p:sp>
        <p:nvSpPr>
          <p:cNvPr id="36" name="Text 30"/>
          <p:cNvSpPr/>
          <p:nvPr/>
        </p:nvSpPr>
        <p:spPr>
          <a:xfrm>
            <a:off x="171450" y="4857750"/>
            <a:ext cx="37404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cierre del fondo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171450" y="5076825"/>
            <a:ext cx="3400425" cy="504825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4288">
            <a:solidFill>
              <a:srgbClr val="E3E3E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19088" y="5243513"/>
            <a:ext cx="6487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1125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33738" y="5233988"/>
            <a:ext cx="190500" cy="1905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0" y="7696200"/>
            <a:ext cx="374332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4"/>
          <p:cNvSpPr/>
          <p:nvPr/>
        </p:nvSpPr>
        <p:spPr>
          <a:xfrm>
            <a:off x="0" y="7696200"/>
            <a:ext cx="37433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2" name="Shape 35"/>
          <p:cNvSpPr/>
          <p:nvPr/>
        </p:nvSpPr>
        <p:spPr>
          <a:xfrm>
            <a:off x="190500" y="7820025"/>
            <a:ext cx="33623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43" name="Text 36"/>
          <p:cNvSpPr/>
          <p:nvPr/>
        </p:nvSpPr>
        <p:spPr>
          <a:xfrm>
            <a:off x="292465" y="7972425"/>
            <a:ext cx="31583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fondo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981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creado — Compartir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746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 rot="1199999">
            <a:off x="381000" y="1085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5D5FDC"/>
          </a:solidFill>
          <a:ln/>
        </p:spPr>
      </p:sp>
      <p:sp>
        <p:nvSpPr>
          <p:cNvPr id="14" name="Shape 9"/>
          <p:cNvSpPr/>
          <p:nvPr/>
        </p:nvSpPr>
        <p:spPr>
          <a:xfrm rot="-900000">
            <a:off x="3219450" y="1314450"/>
            <a:ext cx="85725" cy="85725"/>
          </a:xfrm>
          <a:prstGeom prst="roundRect">
            <a:avLst>
              <a:gd name="adj" fmla="val 22222"/>
            </a:avLst>
          </a:prstGeom>
          <a:solidFill>
            <a:srgbClr val="FFD15C"/>
          </a:solidFill>
          <a:ln/>
        </p:spPr>
      </p:sp>
      <p:sp>
        <p:nvSpPr>
          <p:cNvPr id="15" name="Shape 10"/>
          <p:cNvSpPr/>
          <p:nvPr/>
        </p:nvSpPr>
        <p:spPr>
          <a:xfrm>
            <a:off x="590550" y="1581150"/>
            <a:ext cx="66675" cy="66675"/>
          </a:xfrm>
          <a:prstGeom prst="ellipse">
            <a:avLst/>
          </a:prstGeom>
          <a:solidFill>
            <a:srgbClr val="F23D4F"/>
          </a:solidFill>
          <a:ln/>
        </p:spPr>
      </p:sp>
      <p:sp>
        <p:nvSpPr>
          <p:cNvPr id="16" name="Shape 11"/>
          <p:cNvSpPr/>
          <p:nvPr/>
        </p:nvSpPr>
        <p:spPr>
          <a:xfrm>
            <a:off x="2924175" y="1200150"/>
            <a:ext cx="57150" cy="5715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17" name="Shape 12"/>
          <p:cNvSpPr/>
          <p:nvPr/>
        </p:nvSpPr>
        <p:spPr>
          <a:xfrm rot="1800001">
            <a:off x="3343275" y="1771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9B6BFF"/>
          </a:solidFill>
          <a:ln/>
        </p:spPr>
      </p:sp>
      <p:sp>
        <p:nvSpPr>
          <p:cNvPr id="18" name="Shape 13"/>
          <p:cNvSpPr/>
          <p:nvPr/>
        </p:nvSpPr>
        <p:spPr>
          <a:xfrm>
            <a:off x="1471613" y="1219200"/>
            <a:ext cx="800100" cy="800100"/>
          </a:xfrm>
          <a:prstGeom prst="ellipse">
            <a:avLst/>
          </a:prstGeom>
          <a:solidFill>
            <a:srgbClr val="00A650"/>
          </a:solidFill>
          <a:ln/>
          <a:effectLst>
            <a:outerShdw sx="100000" sy="100000" kx="0" ky="0" algn="bl" rotWithShape="0" blurRad="209550" dist="76200" dir="5400000">
              <a:srgbClr val="00A650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62113" y="1409700"/>
            <a:ext cx="419100" cy="4191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294" y="2190750"/>
            <a:ext cx="3614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¡Fondo creado!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64294" y="2505075"/>
            <a:ext cx="36147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podés invitar a tu grupo</a:t>
            </a:r>
            <a:endParaRPr lang="en-US" sz="1013" dirty="0"/>
          </a:p>
        </p:txBody>
      </p:sp>
      <p:sp>
        <p:nvSpPr>
          <p:cNvPr id="22" name="Shape 16"/>
          <p:cNvSpPr/>
          <p:nvPr/>
        </p:nvSpPr>
        <p:spPr>
          <a:xfrm>
            <a:off x="171450" y="2867025"/>
            <a:ext cx="3400425" cy="1257300"/>
          </a:xfrm>
          <a:prstGeom prst="roundRect">
            <a:avLst>
              <a:gd name="adj" fmla="val 12121"/>
            </a:avLst>
          </a:prstGeom>
          <a:solidFill>
            <a:srgbClr val="F5F5FE"/>
          </a:solidFill>
          <a:ln w="14288">
            <a:solidFill>
              <a:srgbClr val="DCDC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8138" y="3033713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CECFB"/>
          </a:solidFill>
          <a:ln/>
        </p:spPr>
      </p:sp>
      <p:sp>
        <p:nvSpPr>
          <p:cNvPr id="24" name="Text 18"/>
          <p:cNvSpPr/>
          <p:nvPr/>
        </p:nvSpPr>
        <p:spPr>
          <a:xfrm>
            <a:off x="300038" y="3033713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90588" y="3086100"/>
            <a:ext cx="276606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 🏔️</a:t>
            </a:r>
            <a:endParaRPr lang="en-US" sz="1163" dirty="0"/>
          </a:p>
        </p:txBody>
      </p:sp>
      <p:sp>
        <p:nvSpPr>
          <p:cNvPr id="26" name="Text 20"/>
          <p:cNvSpPr/>
          <p:nvPr/>
        </p:nvSpPr>
        <p:spPr>
          <a:xfrm>
            <a:off x="890588" y="3286125"/>
            <a:ext cx="27660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· Admin: Ignacio</a:t>
            </a:r>
            <a:endParaRPr lang="en-US" sz="863" dirty="0"/>
          </a:p>
        </p:txBody>
      </p:sp>
      <p:sp>
        <p:nvSpPr>
          <p:cNvPr id="27" name="Shape 21"/>
          <p:cNvSpPr/>
          <p:nvPr/>
        </p:nvSpPr>
        <p:spPr>
          <a:xfrm>
            <a:off x="338138" y="3605213"/>
            <a:ext cx="3067050" cy="9525"/>
          </a:xfrm>
          <a:prstGeom prst="rect">
            <a:avLst/>
          </a:prstGeom>
          <a:solidFill>
            <a:srgbClr val="D3D3F0"/>
          </a:solidFill>
          <a:ln/>
        </p:spPr>
      </p:sp>
      <p:sp>
        <p:nvSpPr>
          <p:cNvPr id="28" name="Text 22"/>
          <p:cNvSpPr/>
          <p:nvPr/>
        </p:nvSpPr>
        <p:spPr>
          <a:xfrm>
            <a:off x="338138" y="3781425"/>
            <a:ext cx="9209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del fondo</a:t>
            </a:r>
            <a:endParaRPr lang="en-US" sz="938" dirty="0"/>
          </a:p>
        </p:txBody>
      </p:sp>
      <p:sp>
        <p:nvSpPr>
          <p:cNvPr id="29" name="Text 23"/>
          <p:cNvSpPr/>
          <p:nvPr/>
        </p:nvSpPr>
        <p:spPr>
          <a:xfrm>
            <a:off x="3199061" y="3748087"/>
            <a:ext cx="2823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71450" y="4314825"/>
            <a:ext cx="37404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Invitá a tu grupo</a:t>
            </a:r>
            <a:endParaRPr lang="en-US" sz="1125" dirty="0"/>
          </a:p>
        </p:txBody>
      </p:sp>
      <p:sp>
        <p:nvSpPr>
          <p:cNvPr id="31" name="Shape 25"/>
          <p:cNvSpPr/>
          <p:nvPr/>
        </p:nvSpPr>
        <p:spPr>
          <a:xfrm>
            <a:off x="171450" y="4581525"/>
            <a:ext cx="3400425" cy="447675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4288">
            <a:solidFill>
              <a:srgbClr val="D8D8D8"/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319088" y="4738688"/>
            <a:ext cx="21221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5D5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mp.me/fondos/bariloche-2024</a:t>
            </a:r>
            <a:endParaRPr lang="en-US" sz="938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2788" y="4719638"/>
            <a:ext cx="171450" cy="17145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71450" y="5162550"/>
            <a:ext cx="3400425" cy="495300"/>
          </a:xfrm>
          <a:prstGeom prst="roundRect">
            <a:avLst>
              <a:gd name="adj" fmla="val 26923"/>
            </a:avLst>
          </a:prstGeom>
          <a:solidFill>
            <a:srgbClr val="25D36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3007" y="5305425"/>
            <a:ext cx="209550" cy="20955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27826" y="5319713"/>
            <a:ext cx="2068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link por WhatsApp</a:t>
            </a:r>
            <a:endParaRPr lang="en-US" sz="1163" dirty="0"/>
          </a:p>
        </p:txBody>
      </p:sp>
      <p:sp>
        <p:nvSpPr>
          <p:cNvPr id="37" name="Shape 29"/>
          <p:cNvSpPr/>
          <p:nvPr/>
        </p:nvSpPr>
        <p:spPr>
          <a:xfrm>
            <a:off x="171450" y="5753100"/>
            <a:ext cx="3400425" cy="47625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7135" y="5900738"/>
            <a:ext cx="180975" cy="18097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624344" y="5900738"/>
            <a:ext cx="828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link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77594" y="6381750"/>
            <a:ext cx="33881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por otro medio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22587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Invitación recibida (WhatsApp)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0B141A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075E54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533400"/>
          </a:xfrm>
          <a:prstGeom prst="rect">
            <a:avLst/>
          </a:prstGeom>
          <a:solidFill>
            <a:srgbClr val="075E5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00" y="1047750"/>
            <a:ext cx="209550" cy="2095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6250" y="971550"/>
            <a:ext cx="361950" cy="36195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15" name="Text 9"/>
          <p:cNvSpPr/>
          <p:nvPr/>
        </p:nvSpPr>
        <p:spPr>
          <a:xfrm>
            <a:off x="438150" y="9715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52500" y="1004887"/>
            <a:ext cx="25669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Bariloche 🏔️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952500" y="1176338"/>
            <a:ext cx="25669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Ignacio, María, Juan, Ana</a:t>
            </a:r>
            <a:endParaRPr lang="en-US" sz="825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0425" y="1057275"/>
            <a:ext cx="190500" cy="1905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0" y="1447800"/>
            <a:ext cx="3743325" cy="6934200"/>
          </a:xfrm>
          <a:prstGeom prst="rect">
            <a:avLst/>
          </a:prstGeom>
          <a:gradFill rotWithShape="1">
            <a:gsLst>
              <a:gs pos="0">
                <a:srgbClr val="111A1F">
                  <a:alpha val="100000"/>
                </a:srgbClr>
              </a:gs>
              <a:gs pos="100000">
                <a:srgbClr val="0B141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0" name="Shape 13"/>
          <p:cNvSpPr/>
          <p:nvPr/>
        </p:nvSpPr>
        <p:spPr>
          <a:xfrm>
            <a:off x="1651248" y="1600200"/>
            <a:ext cx="440829" cy="219075"/>
          </a:xfrm>
          <a:prstGeom prst="roundRect">
            <a:avLst>
              <a:gd name="adj" fmla="val 34783"/>
            </a:avLst>
          </a:prstGeom>
          <a:solidFill>
            <a:srgbClr val="1D2C33"/>
          </a:solidFill>
          <a:ln/>
        </p:spPr>
      </p:sp>
      <p:sp>
        <p:nvSpPr>
          <p:cNvPr id="21" name="Text 14"/>
          <p:cNvSpPr/>
          <p:nvPr/>
        </p:nvSpPr>
        <p:spPr>
          <a:xfrm>
            <a:off x="1765548" y="1647825"/>
            <a:ext cx="2884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8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788" dirty="0"/>
          </a:p>
        </p:txBody>
      </p:sp>
      <p:sp>
        <p:nvSpPr>
          <p:cNvPr id="22" name="Shape 15"/>
          <p:cNvSpPr/>
          <p:nvPr/>
        </p:nvSpPr>
        <p:spPr>
          <a:xfrm>
            <a:off x="133350" y="1914525"/>
            <a:ext cx="2476500" cy="1990725"/>
          </a:xfrm>
          <a:prstGeom prst="roundRect">
            <a:avLst>
              <a:gd name="adj" fmla="val 1914"/>
            </a:avLst>
          </a:prstGeom>
          <a:solidFill>
            <a:srgbClr val="202C33"/>
          </a:solidFill>
          <a:ln/>
          <a:effectLst>
            <a:outerShdw sx="100000" sy="100000" kx="0" ky="0" algn="bl" rotWithShape="0" blurRad="9525" dist="9525" dir="5400000">
              <a:srgbClr val="000000">
                <a:alpha val="3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247650" y="1990725"/>
            <a:ext cx="24841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53BD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863" dirty="0"/>
          </a:p>
        </p:txBody>
      </p:sp>
      <p:sp>
        <p:nvSpPr>
          <p:cNvPr id="24" name="Shape 17"/>
          <p:cNvSpPr/>
          <p:nvPr/>
        </p:nvSpPr>
        <p:spPr>
          <a:xfrm>
            <a:off x="190500" y="2162175"/>
            <a:ext cx="2362200" cy="1162050"/>
          </a:xfrm>
          <a:prstGeom prst="roundRect">
            <a:avLst>
              <a:gd name="adj" fmla="val 6557"/>
            </a:avLst>
          </a:prstGeom>
          <a:solidFill>
            <a:srgbClr val="0A1318"/>
          </a:solidFill>
          <a:ln/>
        </p:spPr>
      </p:sp>
      <p:sp>
        <p:nvSpPr>
          <p:cNvPr id="25" name="Shape 18"/>
          <p:cNvSpPr/>
          <p:nvPr/>
        </p:nvSpPr>
        <p:spPr>
          <a:xfrm>
            <a:off x="190500" y="2162175"/>
            <a:ext cx="2362200" cy="70485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6" name="Text 19"/>
          <p:cNvSpPr/>
          <p:nvPr/>
        </p:nvSpPr>
        <p:spPr>
          <a:xfrm>
            <a:off x="1190625" y="2314575"/>
            <a:ext cx="4381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550" dirty="0"/>
          </a:p>
        </p:txBody>
      </p:sp>
      <p:sp>
        <p:nvSpPr>
          <p:cNvPr id="27" name="Text 20"/>
          <p:cNvSpPr/>
          <p:nvPr/>
        </p:nvSpPr>
        <p:spPr>
          <a:xfrm>
            <a:off x="285750" y="2238375"/>
            <a:ext cx="8297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8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PAGO</a:t>
            </a:r>
            <a:endParaRPr lang="en-US" sz="675" dirty="0"/>
          </a:p>
        </p:txBody>
      </p:sp>
      <p:sp>
        <p:nvSpPr>
          <p:cNvPr id="28" name="Text 21"/>
          <p:cNvSpPr/>
          <p:nvPr/>
        </p:nvSpPr>
        <p:spPr>
          <a:xfrm>
            <a:off x="295275" y="2952750"/>
            <a:ext cx="23679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invitaron a un fondo compartido</a:t>
            </a:r>
            <a:endParaRPr lang="en-US" sz="938" dirty="0"/>
          </a:p>
        </p:txBody>
      </p:sp>
      <p:sp>
        <p:nvSpPr>
          <p:cNvPr id="29" name="Text 22"/>
          <p:cNvSpPr/>
          <p:nvPr/>
        </p:nvSpPr>
        <p:spPr>
          <a:xfrm>
            <a:off x="295275" y="3124200"/>
            <a:ext cx="23679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6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mp.me/fondos/bariloche-2024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247650" y="3381375"/>
            <a:ext cx="232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¡Sumate al fondo del viaje! 🏔️ Cargá tu parte cuando puedas 🙌</a:t>
            </a:r>
            <a:endParaRPr lang="en-US" sz="975" dirty="0"/>
          </a:p>
        </p:txBody>
      </p:sp>
      <p:sp>
        <p:nvSpPr>
          <p:cNvPr id="31" name="Text 24"/>
          <p:cNvSpPr/>
          <p:nvPr/>
        </p:nvSpPr>
        <p:spPr>
          <a:xfrm>
            <a:off x="11430" y="3705225"/>
            <a:ext cx="24841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9:40 ✓✓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0" y="5495925"/>
            <a:ext cx="3743325" cy="3076575"/>
          </a:xfrm>
          <a:prstGeom prst="roundRect">
            <a:avLst>
              <a:gd name="adj" fmla="val 80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16200000">
              <a:srgbClr val="000000">
                <a:alpha val="4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671638" y="5591175"/>
            <a:ext cx="400050" cy="47625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34" name="Shape 27"/>
          <p:cNvSpPr/>
          <p:nvPr/>
        </p:nvSpPr>
        <p:spPr>
          <a:xfrm>
            <a:off x="209550" y="57912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5D5FDC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2413" y="5834063"/>
            <a:ext cx="123825" cy="12382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95300" y="5829300"/>
            <a:ext cx="15316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COMPARTIDOS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209550" y="6134100"/>
            <a:ext cx="36566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 </a:t>
            </a:r>
            <a:pPr algn="l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invitó al fondo</a:t>
            </a:r>
            <a:endParaRPr lang="en-US" sz="1425" dirty="0"/>
          </a:p>
        </p:txBody>
      </p:sp>
      <p:sp>
        <p:nvSpPr>
          <p:cNvPr id="38" name="Shape 30"/>
          <p:cNvSpPr/>
          <p:nvPr/>
        </p:nvSpPr>
        <p:spPr>
          <a:xfrm>
            <a:off x="209550" y="6496050"/>
            <a:ext cx="3324225" cy="752475"/>
          </a:xfrm>
          <a:prstGeom prst="roundRect">
            <a:avLst>
              <a:gd name="adj" fmla="val 17722"/>
            </a:avLst>
          </a:prstGeom>
          <a:solidFill>
            <a:srgbClr val="F5F5FE"/>
          </a:solidFill>
          <a:ln w="14288">
            <a:solidFill>
              <a:srgbClr val="DCDCF6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57188" y="6643688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ECECFB"/>
          </a:solidFill>
          <a:ln/>
        </p:spPr>
      </p:sp>
      <p:sp>
        <p:nvSpPr>
          <p:cNvPr id="40" name="Text 32"/>
          <p:cNvSpPr/>
          <p:nvPr/>
        </p:nvSpPr>
        <p:spPr>
          <a:xfrm>
            <a:off x="319088" y="664368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928688" y="6657975"/>
            <a:ext cx="25336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 🏔️</a:t>
            </a:r>
            <a:endParaRPr lang="en-US" sz="1163" dirty="0"/>
          </a:p>
        </p:txBody>
      </p:sp>
      <p:sp>
        <p:nvSpPr>
          <p:cNvPr id="42" name="Text 34"/>
          <p:cNvSpPr/>
          <p:nvPr/>
        </p:nvSpPr>
        <p:spPr>
          <a:xfrm>
            <a:off x="928688" y="6948488"/>
            <a:ext cx="6756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actual</a:t>
            </a:r>
            <a:endParaRPr lang="en-US" sz="863" dirty="0"/>
          </a:p>
        </p:txBody>
      </p:sp>
      <p:sp>
        <p:nvSpPr>
          <p:cNvPr id="43" name="Text 35"/>
          <p:cNvSpPr/>
          <p:nvPr/>
        </p:nvSpPr>
        <p:spPr>
          <a:xfrm>
            <a:off x="1642467" y="6943725"/>
            <a:ext cx="2250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75" dirty="0"/>
          </a:p>
        </p:txBody>
      </p:sp>
      <p:sp>
        <p:nvSpPr>
          <p:cNvPr id="44" name="Shape 36"/>
          <p:cNvSpPr/>
          <p:nvPr/>
        </p:nvSpPr>
        <p:spPr>
          <a:xfrm>
            <a:off x="209550" y="7381875"/>
            <a:ext cx="285750" cy="285750"/>
          </a:xfrm>
          <a:prstGeom prst="ellipse">
            <a:avLst/>
          </a:prstGeom>
          <a:solidFill>
            <a:srgbClr val="5D5F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190500" y="7400925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09575" y="7381875"/>
            <a:ext cx="285750" cy="285750"/>
          </a:xfrm>
          <a:prstGeom prst="ellipse">
            <a:avLst/>
          </a:prstGeom>
          <a:solidFill>
            <a:srgbClr val="9B6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390525" y="7400925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09600" y="7381875"/>
            <a:ext cx="285750" cy="285750"/>
          </a:xfrm>
          <a:prstGeom prst="ellipse">
            <a:avLst/>
          </a:prstGeom>
          <a:solidFill>
            <a:srgbClr val="00A6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90550" y="7400925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990600" y="7453312"/>
            <a:ext cx="16767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participantes ya se unieron</a:t>
            </a:r>
            <a:endParaRPr lang="en-US" sz="938" dirty="0"/>
          </a:p>
        </p:txBody>
      </p:sp>
      <p:sp>
        <p:nvSpPr>
          <p:cNvPr id="51" name="Shape 43"/>
          <p:cNvSpPr/>
          <p:nvPr/>
        </p:nvSpPr>
        <p:spPr>
          <a:xfrm>
            <a:off x="209550" y="7839075"/>
            <a:ext cx="33242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52" name="Text 44"/>
          <p:cNvSpPr/>
          <p:nvPr/>
        </p:nvSpPr>
        <p:spPr>
          <a:xfrm>
            <a:off x="312087" y="7991475"/>
            <a:ext cx="311915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Unirme al fondo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23517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del fondo — Resumen ($0)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1666875"/>
          </a:xfrm>
          <a:prstGeom prst="rect">
            <a:avLst/>
          </a:prstGeom>
          <a:solidFill>
            <a:srgbClr val="5D5FD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500" y="97155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740" y="995363"/>
            <a:ext cx="14604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Viaje a Bariloche</a:t>
            </a:r>
            <a:endParaRPr lang="en-US" sz="11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4076" y="97155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384" y="1333500"/>
            <a:ext cx="36985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del fondo</a:t>
            </a:r>
            <a:endParaRPr lang="en-US" sz="938" dirty="0"/>
          </a:p>
        </p:txBody>
      </p:sp>
      <p:sp>
        <p:nvSpPr>
          <p:cNvPr id="17" name="Text 10"/>
          <p:cNvSpPr/>
          <p:nvPr/>
        </p:nvSpPr>
        <p:spPr>
          <a:xfrm>
            <a:off x="22384" y="1495425"/>
            <a:ext cx="369855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850" dirty="0"/>
          </a:p>
        </p:txBody>
      </p:sp>
      <p:sp>
        <p:nvSpPr>
          <p:cNvPr id="18" name="Shape 11"/>
          <p:cNvSpPr/>
          <p:nvPr/>
        </p:nvSpPr>
        <p:spPr>
          <a:xfrm>
            <a:off x="905768" y="2066925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5FDC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886718" y="20859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75" dirty="0"/>
          </a:p>
        </p:txBody>
      </p:sp>
      <p:sp>
        <p:nvSpPr>
          <p:cNvPr id="20" name="Shape 13"/>
          <p:cNvSpPr/>
          <p:nvPr/>
        </p:nvSpPr>
        <p:spPr>
          <a:xfrm>
            <a:off x="1153418" y="2066925"/>
            <a:ext cx="323850" cy="323850"/>
          </a:xfrm>
          <a:prstGeom prst="ellipse">
            <a:avLst/>
          </a:prstGeom>
          <a:solidFill>
            <a:srgbClr val="9B6BFF"/>
          </a:solidFill>
          <a:ln w="19050">
            <a:solidFill>
              <a:srgbClr val="5D5FDC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1134368" y="20859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75" dirty="0"/>
          </a:p>
        </p:txBody>
      </p:sp>
      <p:sp>
        <p:nvSpPr>
          <p:cNvPr id="22" name="Shape 15"/>
          <p:cNvSpPr/>
          <p:nvPr/>
        </p:nvSpPr>
        <p:spPr>
          <a:xfrm>
            <a:off x="1401068" y="2066925"/>
            <a:ext cx="323850" cy="323850"/>
          </a:xfrm>
          <a:prstGeom prst="ellipse">
            <a:avLst/>
          </a:prstGeom>
          <a:solidFill>
            <a:srgbClr val="00A650"/>
          </a:solidFill>
          <a:ln w="19050">
            <a:solidFill>
              <a:srgbClr val="5D5FDC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1382018" y="20859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75" dirty="0"/>
          </a:p>
        </p:txBody>
      </p:sp>
      <p:sp>
        <p:nvSpPr>
          <p:cNvPr id="24" name="Shape 17"/>
          <p:cNvSpPr/>
          <p:nvPr/>
        </p:nvSpPr>
        <p:spPr>
          <a:xfrm>
            <a:off x="1648718" y="2066925"/>
            <a:ext cx="323850" cy="32385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5D5FDC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1629668" y="208597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2067818" y="2162175"/>
            <a:ext cx="8459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participantes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0" y="2581275"/>
            <a:ext cx="3743325" cy="82867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1"/>
          <p:cNvSpPr/>
          <p:nvPr/>
        </p:nvSpPr>
        <p:spPr>
          <a:xfrm>
            <a:off x="171450" y="2733675"/>
            <a:ext cx="1076325" cy="619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1E32">
                <a:alpha val="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838" y="2847975"/>
            <a:ext cx="209550" cy="2095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2935" y="3114675"/>
            <a:ext cx="7294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dinero</a:t>
            </a:r>
            <a:endParaRPr lang="en-US" sz="825" dirty="0"/>
          </a:p>
        </p:txBody>
      </p:sp>
      <p:sp>
        <p:nvSpPr>
          <p:cNvPr id="31" name="Shape 23"/>
          <p:cNvSpPr/>
          <p:nvPr/>
        </p:nvSpPr>
        <p:spPr>
          <a:xfrm>
            <a:off x="1333500" y="2733675"/>
            <a:ext cx="1076325" cy="619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1E32">
                <a:alpha val="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66888" y="2847975"/>
            <a:ext cx="209550" cy="2095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508224" y="3114675"/>
            <a:ext cx="80307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gasto</a:t>
            </a:r>
            <a:endParaRPr lang="en-US" sz="825" dirty="0"/>
          </a:p>
        </p:txBody>
      </p:sp>
      <p:sp>
        <p:nvSpPr>
          <p:cNvPr id="34" name="Shape 25"/>
          <p:cNvSpPr/>
          <p:nvPr/>
        </p:nvSpPr>
        <p:spPr>
          <a:xfrm>
            <a:off x="2495550" y="2733675"/>
            <a:ext cx="1076325" cy="619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1E32">
                <a:alpha val="5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928938" y="2847975"/>
            <a:ext cx="209550" cy="20955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748260" y="3114675"/>
            <a:ext cx="64695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historial</a:t>
            </a:r>
            <a:endParaRPr lang="en-US" sz="825" dirty="0"/>
          </a:p>
        </p:txBody>
      </p:sp>
      <p:sp>
        <p:nvSpPr>
          <p:cNvPr id="37" name="Shape 27"/>
          <p:cNvSpPr/>
          <p:nvPr/>
        </p:nvSpPr>
        <p:spPr>
          <a:xfrm>
            <a:off x="0" y="3409950"/>
            <a:ext cx="3743325" cy="3571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Shape 28"/>
          <p:cNvSpPr/>
          <p:nvPr/>
        </p:nvSpPr>
        <p:spPr>
          <a:xfrm>
            <a:off x="0" y="3757613"/>
            <a:ext cx="374332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9" name="Shape 29"/>
          <p:cNvSpPr/>
          <p:nvPr/>
        </p:nvSpPr>
        <p:spPr>
          <a:xfrm>
            <a:off x="171450" y="3733800"/>
            <a:ext cx="543669" cy="23813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40" name="Text 30"/>
          <p:cNvSpPr/>
          <p:nvPr/>
        </p:nvSpPr>
        <p:spPr>
          <a:xfrm>
            <a:off x="171450" y="3486150"/>
            <a:ext cx="6198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013" dirty="0"/>
          </a:p>
        </p:txBody>
      </p:sp>
      <p:sp>
        <p:nvSpPr>
          <p:cNvPr id="41" name="Text 31"/>
          <p:cNvSpPr/>
          <p:nvPr/>
        </p:nvSpPr>
        <p:spPr>
          <a:xfrm>
            <a:off x="943719" y="3486150"/>
            <a:ext cx="484287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</a:t>
            </a:r>
            <a:endParaRPr lang="en-US" sz="1013" dirty="0"/>
          </a:p>
        </p:txBody>
      </p:sp>
      <p:sp>
        <p:nvSpPr>
          <p:cNvPr id="42" name="Text 32"/>
          <p:cNvSpPr/>
          <p:nvPr/>
        </p:nvSpPr>
        <p:spPr>
          <a:xfrm>
            <a:off x="1580406" y="3486150"/>
            <a:ext cx="593229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</a:t>
            </a:r>
            <a:endParaRPr lang="en-US" sz="1013" dirty="0"/>
          </a:p>
        </p:txBody>
      </p:sp>
      <p:sp>
        <p:nvSpPr>
          <p:cNvPr id="43" name="Shape 33"/>
          <p:cNvSpPr/>
          <p:nvPr/>
        </p:nvSpPr>
        <p:spPr>
          <a:xfrm>
            <a:off x="0" y="3767138"/>
            <a:ext cx="3743325" cy="40814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Shape 34"/>
          <p:cNvSpPr/>
          <p:nvPr/>
        </p:nvSpPr>
        <p:spPr>
          <a:xfrm>
            <a:off x="171450" y="3919537"/>
            <a:ext cx="34004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45" name="Text 35"/>
          <p:cNvSpPr/>
          <p:nvPr/>
        </p:nvSpPr>
        <p:spPr>
          <a:xfrm>
            <a:off x="323850" y="4071938"/>
            <a:ext cx="93270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del fondo</a:t>
            </a:r>
            <a:endParaRPr lang="en-US" sz="975" dirty="0"/>
          </a:p>
        </p:txBody>
      </p:sp>
      <p:sp>
        <p:nvSpPr>
          <p:cNvPr id="46" name="Text 36"/>
          <p:cNvSpPr/>
          <p:nvPr/>
        </p:nvSpPr>
        <p:spPr>
          <a:xfrm>
            <a:off x="3256359" y="4076700"/>
            <a:ext cx="2393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323850" y="4310063"/>
            <a:ext cx="3095625" cy="85725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8" name="Text 38"/>
          <p:cNvSpPr/>
          <p:nvPr/>
        </p:nvSpPr>
        <p:spPr>
          <a:xfrm>
            <a:off x="323850" y="4471988"/>
            <a:ext cx="340518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Cargá dinero para empezar a juntar 💪</a:t>
            </a:r>
            <a:endParaRPr lang="en-US" sz="863" dirty="0"/>
          </a:p>
        </p:txBody>
      </p:sp>
      <p:sp>
        <p:nvSpPr>
          <p:cNvPr id="49" name="Shape 39"/>
          <p:cNvSpPr/>
          <p:nvPr/>
        </p:nvSpPr>
        <p:spPr>
          <a:xfrm>
            <a:off x="171450" y="4891088"/>
            <a:ext cx="3400425" cy="590550"/>
          </a:xfrm>
          <a:prstGeom prst="roundRect">
            <a:avLst>
              <a:gd name="adj" fmla="val 22581"/>
            </a:avLst>
          </a:prstGeom>
          <a:solidFill>
            <a:srgbClr val="FFF8E8"/>
          </a:solidFill>
          <a:ln w="9525">
            <a:solidFill>
              <a:srgbClr val="FFE6A8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333375" y="5057775"/>
            <a:ext cx="3238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</a:t>
            </a:r>
            <a:endParaRPr lang="en-US" sz="1650" dirty="0"/>
          </a:p>
        </p:txBody>
      </p:sp>
      <p:sp>
        <p:nvSpPr>
          <p:cNvPr id="51" name="Text 41"/>
          <p:cNvSpPr/>
          <p:nvPr/>
        </p:nvSpPr>
        <p:spPr>
          <a:xfrm>
            <a:off x="695325" y="5033963"/>
            <a:ext cx="16996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7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fondo está vacío</a:t>
            </a:r>
            <a:endParaRPr lang="en-US" sz="1013" dirty="0"/>
          </a:p>
        </p:txBody>
      </p:sp>
      <p:sp>
        <p:nvSpPr>
          <p:cNvPr id="52" name="Text 42"/>
          <p:cNvSpPr/>
          <p:nvPr/>
        </p:nvSpPr>
        <p:spPr>
          <a:xfrm>
            <a:off x="695325" y="5205413"/>
            <a:ext cx="16996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A07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 el primero en cargar tu parte</a:t>
            </a:r>
            <a:endParaRPr lang="en-US" sz="863" dirty="0"/>
          </a:p>
        </p:txBody>
      </p:sp>
      <p:sp>
        <p:nvSpPr>
          <p:cNvPr id="53" name="Shape 43"/>
          <p:cNvSpPr/>
          <p:nvPr/>
        </p:nvSpPr>
        <p:spPr>
          <a:xfrm>
            <a:off x="0" y="7848600"/>
            <a:ext cx="3743325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4"/>
          <p:cNvSpPr/>
          <p:nvPr/>
        </p:nvSpPr>
        <p:spPr>
          <a:xfrm>
            <a:off x="0" y="7848600"/>
            <a:ext cx="3743325" cy="9525"/>
          </a:xfrm>
          <a:prstGeom prst="rect">
            <a:avLst/>
          </a:prstGeom>
          <a:solidFill>
            <a:srgbClr val="EEEEEE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0038" y="7924800"/>
            <a:ext cx="219075" cy="219075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251668" y="8172450"/>
            <a:ext cx="3918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750" dirty="0"/>
          </a:p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1081" y="7924800"/>
            <a:ext cx="219075" cy="219075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969020" y="8172450"/>
            <a:ext cx="41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</a:t>
            </a:r>
            <a:endParaRPr lang="en-US" sz="750" dirty="0"/>
          </a:p>
        </p:txBody>
      </p:sp>
      <p:sp>
        <p:nvSpPr>
          <p:cNvPr id="59" name="Shape 47"/>
          <p:cNvSpPr/>
          <p:nvPr/>
        </p:nvSpPr>
        <p:spPr>
          <a:xfrm>
            <a:off x="1652588" y="7800975"/>
            <a:ext cx="438150" cy="438150"/>
          </a:xfrm>
          <a:prstGeom prst="ellipse">
            <a:avLst/>
          </a:prstGeom>
          <a:solidFill>
            <a:srgbClr val="5D5FDC"/>
          </a:solidFill>
          <a:ln/>
          <a:effectLst>
            <a:outerShdw sx="100000" sy="100000" kx="0" ky="0" algn="bl" rotWithShape="0" blurRad="133350" dist="57150" dir="5400000">
              <a:srgbClr val="5D5FDC">
                <a:alpha val="45000"/>
              </a:srgbClr>
            </a:outerShdw>
          </a:effectLst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57363" y="7905750"/>
            <a:ext cx="228600" cy="22860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1803797" y="8267700"/>
            <a:ext cx="2117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75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93169" y="7924800"/>
            <a:ext cx="219075" cy="219075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2404765" y="8172450"/>
            <a:ext cx="4720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750" dirty="0"/>
          </a:p>
        </p:txBody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224213" y="7924800"/>
            <a:ext cx="219075" cy="219075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3246090" y="8172450"/>
            <a:ext cx="251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endParaRPr lang="en-US" sz="750" dirty="0"/>
          </a:p>
        </p:txBody>
      </p:sp>
      <p:sp>
        <p:nvSpPr>
          <p:cNvPr id="66" name="Shape 51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52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617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dinero al fondo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400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9525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957263"/>
            <a:ext cx="20486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dinero al fondo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0" y="1314450"/>
            <a:ext cx="3743325" cy="7067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0"/>
          <p:cNvSpPr/>
          <p:nvPr/>
        </p:nvSpPr>
        <p:spPr>
          <a:xfrm>
            <a:off x="-187166" y="1447800"/>
            <a:ext cx="411765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a cargar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-187166" y="1600200"/>
            <a:ext cx="411765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75" kern="0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$15.000</a:t>
            </a:r>
            <a:endParaRPr lang="en-US" sz="3300" dirty="0"/>
          </a:p>
        </p:txBody>
      </p:sp>
      <p:sp>
        <p:nvSpPr>
          <p:cNvPr id="18" name="Text 12"/>
          <p:cNvSpPr/>
          <p:nvPr/>
        </p:nvSpPr>
        <p:spPr>
          <a:xfrm>
            <a:off x="171450" y="2257425"/>
            <a:ext cx="12574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DEL DINERO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171450" y="2476500"/>
            <a:ext cx="3400425" cy="571500"/>
          </a:xfrm>
          <a:prstGeom prst="roundRect">
            <a:avLst>
              <a:gd name="adj" fmla="val 20000"/>
            </a:avLst>
          </a:prstGeom>
          <a:solidFill>
            <a:srgbClr val="F5F5FE"/>
          </a:solidFill>
          <a:ln w="19050">
            <a:solidFill>
              <a:srgbClr val="5D5FD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14325" y="26003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CECF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763" y="2671763"/>
            <a:ext cx="180975" cy="1809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2950" y="2619375"/>
            <a:ext cx="26298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saldo en MP</a:t>
            </a:r>
            <a:endParaRPr lang="en-US" sz="1013" dirty="0"/>
          </a:p>
        </p:txBody>
      </p:sp>
      <p:sp>
        <p:nvSpPr>
          <p:cNvPr id="23" name="Text 16"/>
          <p:cNvSpPr/>
          <p:nvPr/>
        </p:nvSpPr>
        <p:spPr>
          <a:xfrm>
            <a:off x="742950" y="2771775"/>
            <a:ext cx="262985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$47.320 disponibles</a:t>
            </a:r>
            <a:endParaRPr lang="en-US" sz="863" dirty="0"/>
          </a:p>
        </p:txBody>
      </p:sp>
      <p:sp>
        <p:nvSpPr>
          <p:cNvPr id="24" name="Shape 17"/>
          <p:cNvSpPr/>
          <p:nvPr/>
        </p:nvSpPr>
        <p:spPr>
          <a:xfrm>
            <a:off x="3238500" y="2667000"/>
            <a:ext cx="190500" cy="190500"/>
          </a:xfrm>
          <a:prstGeom prst="ellipse">
            <a:avLst/>
          </a:prstGeom>
          <a:ln w="57150">
            <a:solidFill>
              <a:srgbClr val="5D5FD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1450" y="3124200"/>
            <a:ext cx="3400425" cy="561975"/>
          </a:xfrm>
          <a:prstGeom prst="roundRect">
            <a:avLst>
              <a:gd name="adj" fmla="val 20339"/>
            </a:avLst>
          </a:prstGeom>
          <a:ln w="14288">
            <a:solidFill>
              <a:srgbClr val="EEEEE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09563" y="3243263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3F3F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1000" y="3314700"/>
            <a:ext cx="180975" cy="1809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8188" y="3262313"/>
            <a:ext cx="2640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de débito</a:t>
            </a:r>
            <a:endParaRPr lang="en-US" sz="1013" dirty="0"/>
          </a:p>
        </p:txBody>
      </p:sp>
      <p:sp>
        <p:nvSpPr>
          <p:cNvPr id="29" name="Text 21"/>
          <p:cNvSpPr/>
          <p:nvPr/>
        </p:nvSpPr>
        <p:spPr>
          <a:xfrm>
            <a:off x="738188" y="3414713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 4521</a:t>
            </a:r>
            <a:endParaRPr lang="en-US" sz="863" dirty="0"/>
          </a:p>
        </p:txBody>
      </p:sp>
      <p:sp>
        <p:nvSpPr>
          <p:cNvPr id="30" name="Shape 22"/>
          <p:cNvSpPr/>
          <p:nvPr/>
        </p:nvSpPr>
        <p:spPr>
          <a:xfrm>
            <a:off x="3243263" y="3309938"/>
            <a:ext cx="190500" cy="190500"/>
          </a:xfrm>
          <a:prstGeom prst="ellipse">
            <a:avLst/>
          </a:prstGeom>
          <a:ln w="14288">
            <a:solidFill>
              <a:srgbClr val="CCCCC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71450" y="3762375"/>
            <a:ext cx="3400425" cy="561975"/>
          </a:xfrm>
          <a:prstGeom prst="roundRect">
            <a:avLst>
              <a:gd name="adj" fmla="val 20339"/>
            </a:avLst>
          </a:prstGeom>
          <a:ln w="14288">
            <a:solidFill>
              <a:srgbClr val="EEEEE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09563" y="3881438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3F3F3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1000" y="3952875"/>
            <a:ext cx="180975" cy="1809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8188" y="3900488"/>
            <a:ext cx="2640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de crédito</a:t>
            </a:r>
            <a:endParaRPr lang="en-US" sz="1013" dirty="0"/>
          </a:p>
        </p:txBody>
      </p:sp>
      <p:sp>
        <p:nvSpPr>
          <p:cNvPr id="35" name="Text 26"/>
          <p:cNvSpPr/>
          <p:nvPr/>
        </p:nvSpPr>
        <p:spPr>
          <a:xfrm>
            <a:off x="738188" y="4052888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 7834</a:t>
            </a:r>
            <a:endParaRPr lang="en-US" sz="863" dirty="0"/>
          </a:p>
        </p:txBody>
      </p:sp>
      <p:sp>
        <p:nvSpPr>
          <p:cNvPr id="36" name="Shape 27"/>
          <p:cNvSpPr/>
          <p:nvPr/>
        </p:nvSpPr>
        <p:spPr>
          <a:xfrm>
            <a:off x="3243263" y="3948112"/>
            <a:ext cx="190500" cy="190500"/>
          </a:xfrm>
          <a:prstGeom prst="ellipse">
            <a:avLst/>
          </a:prstGeom>
          <a:ln w="14288">
            <a:solidFill>
              <a:srgbClr val="CCCCCC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171450" y="4438650"/>
            <a:ext cx="3400425" cy="342900"/>
          </a:xfrm>
          <a:prstGeom prst="roundRect">
            <a:avLst>
              <a:gd name="adj" fmla="val 30556"/>
            </a:avLst>
          </a:prstGeom>
          <a:solidFill>
            <a:srgbClr val="F5F5F5"/>
          </a:solidFill>
          <a:ln/>
        </p:spPr>
      </p:sp>
      <p:sp>
        <p:nvSpPr>
          <p:cNvPr id="38" name="Text 29"/>
          <p:cNvSpPr/>
          <p:nvPr/>
        </p:nvSpPr>
        <p:spPr>
          <a:xfrm>
            <a:off x="244269" y="4543425"/>
            <a:ext cx="32547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Vas a cargar </a:t>
            </a:r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$15.000 </a:t>
            </a:r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al fondo </a:t>
            </a:r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0" y="5895975"/>
            <a:ext cx="3743325" cy="1828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0" name="Shape 31"/>
          <p:cNvSpPr/>
          <p:nvPr/>
        </p:nvSpPr>
        <p:spPr>
          <a:xfrm>
            <a:off x="0" y="5895975"/>
            <a:ext cx="3743325" cy="9525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1" name="Shape 32"/>
          <p:cNvSpPr/>
          <p:nvPr/>
        </p:nvSpPr>
        <p:spPr>
          <a:xfrm>
            <a:off x="0" y="59055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3"/>
          <p:cNvSpPr/>
          <p:nvPr/>
        </p:nvSpPr>
        <p:spPr>
          <a:xfrm>
            <a:off x="-38100" y="60102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75" dirty="0"/>
          </a:p>
        </p:txBody>
      </p:sp>
      <p:sp>
        <p:nvSpPr>
          <p:cNvPr id="43" name="Shape 34"/>
          <p:cNvSpPr/>
          <p:nvPr/>
        </p:nvSpPr>
        <p:spPr>
          <a:xfrm>
            <a:off x="1250900" y="59055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5"/>
          <p:cNvSpPr/>
          <p:nvPr/>
        </p:nvSpPr>
        <p:spPr>
          <a:xfrm>
            <a:off x="1212800" y="60102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75" dirty="0"/>
          </a:p>
        </p:txBody>
      </p:sp>
      <p:sp>
        <p:nvSpPr>
          <p:cNvPr id="45" name="Shape 36"/>
          <p:cNvSpPr/>
          <p:nvPr/>
        </p:nvSpPr>
        <p:spPr>
          <a:xfrm>
            <a:off x="2501801" y="5905500"/>
            <a:ext cx="1241524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7"/>
          <p:cNvSpPr/>
          <p:nvPr/>
        </p:nvSpPr>
        <p:spPr>
          <a:xfrm>
            <a:off x="2463701" y="6010275"/>
            <a:ext cx="13177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75" dirty="0"/>
          </a:p>
        </p:txBody>
      </p:sp>
      <p:sp>
        <p:nvSpPr>
          <p:cNvPr id="47" name="Shape 38"/>
          <p:cNvSpPr/>
          <p:nvPr/>
        </p:nvSpPr>
        <p:spPr>
          <a:xfrm>
            <a:off x="0" y="63627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39"/>
          <p:cNvSpPr/>
          <p:nvPr/>
        </p:nvSpPr>
        <p:spPr>
          <a:xfrm>
            <a:off x="-38100" y="64674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75" dirty="0"/>
          </a:p>
        </p:txBody>
      </p:sp>
      <p:sp>
        <p:nvSpPr>
          <p:cNvPr id="49" name="Shape 40"/>
          <p:cNvSpPr/>
          <p:nvPr/>
        </p:nvSpPr>
        <p:spPr>
          <a:xfrm>
            <a:off x="1250900" y="63627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1"/>
          <p:cNvSpPr/>
          <p:nvPr/>
        </p:nvSpPr>
        <p:spPr>
          <a:xfrm>
            <a:off x="1212800" y="64674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75" dirty="0"/>
          </a:p>
        </p:txBody>
      </p:sp>
      <p:sp>
        <p:nvSpPr>
          <p:cNvPr id="51" name="Shape 42"/>
          <p:cNvSpPr/>
          <p:nvPr/>
        </p:nvSpPr>
        <p:spPr>
          <a:xfrm>
            <a:off x="2501801" y="6362700"/>
            <a:ext cx="1241524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3"/>
          <p:cNvSpPr/>
          <p:nvPr/>
        </p:nvSpPr>
        <p:spPr>
          <a:xfrm>
            <a:off x="2463701" y="6467475"/>
            <a:ext cx="13177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75" dirty="0"/>
          </a:p>
        </p:txBody>
      </p:sp>
      <p:sp>
        <p:nvSpPr>
          <p:cNvPr id="53" name="Shape 44"/>
          <p:cNvSpPr/>
          <p:nvPr/>
        </p:nvSpPr>
        <p:spPr>
          <a:xfrm>
            <a:off x="0" y="68199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45"/>
          <p:cNvSpPr/>
          <p:nvPr/>
        </p:nvSpPr>
        <p:spPr>
          <a:xfrm>
            <a:off x="-38100" y="69246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75" dirty="0"/>
          </a:p>
        </p:txBody>
      </p:sp>
      <p:sp>
        <p:nvSpPr>
          <p:cNvPr id="55" name="Shape 46"/>
          <p:cNvSpPr/>
          <p:nvPr/>
        </p:nvSpPr>
        <p:spPr>
          <a:xfrm>
            <a:off x="1250900" y="68199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47"/>
          <p:cNvSpPr/>
          <p:nvPr/>
        </p:nvSpPr>
        <p:spPr>
          <a:xfrm>
            <a:off x="1212800" y="69246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75" dirty="0"/>
          </a:p>
        </p:txBody>
      </p:sp>
      <p:sp>
        <p:nvSpPr>
          <p:cNvPr id="57" name="Shape 48"/>
          <p:cNvSpPr/>
          <p:nvPr/>
        </p:nvSpPr>
        <p:spPr>
          <a:xfrm>
            <a:off x="2501801" y="6819900"/>
            <a:ext cx="1241524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49"/>
          <p:cNvSpPr/>
          <p:nvPr/>
        </p:nvSpPr>
        <p:spPr>
          <a:xfrm>
            <a:off x="2463701" y="6924675"/>
            <a:ext cx="13177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75" dirty="0"/>
          </a:p>
        </p:txBody>
      </p:sp>
      <p:sp>
        <p:nvSpPr>
          <p:cNvPr id="59" name="Shape 50"/>
          <p:cNvSpPr/>
          <p:nvPr/>
        </p:nvSpPr>
        <p:spPr>
          <a:xfrm>
            <a:off x="0" y="72771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1"/>
          <p:cNvSpPr/>
          <p:nvPr/>
        </p:nvSpPr>
        <p:spPr>
          <a:xfrm>
            <a:off x="-38100" y="73818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61" name="Shape 52"/>
          <p:cNvSpPr/>
          <p:nvPr/>
        </p:nvSpPr>
        <p:spPr>
          <a:xfrm>
            <a:off x="1250900" y="7277100"/>
            <a:ext cx="1241375" cy="447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3"/>
          <p:cNvSpPr/>
          <p:nvPr/>
        </p:nvSpPr>
        <p:spPr>
          <a:xfrm>
            <a:off x="1212800" y="7381875"/>
            <a:ext cx="13175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75" dirty="0"/>
          </a:p>
        </p:txBody>
      </p:sp>
      <p:sp>
        <p:nvSpPr>
          <p:cNvPr id="63" name="Shape 54"/>
          <p:cNvSpPr/>
          <p:nvPr/>
        </p:nvSpPr>
        <p:spPr>
          <a:xfrm>
            <a:off x="2501801" y="7277100"/>
            <a:ext cx="1241524" cy="4476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08263" y="7386638"/>
            <a:ext cx="228600" cy="228600"/>
          </a:xfrm>
          <a:prstGeom prst="rect">
            <a:avLst/>
          </a:prstGeom>
        </p:spPr>
      </p:pic>
      <p:sp>
        <p:nvSpPr>
          <p:cNvPr id="65" name="Shape 55"/>
          <p:cNvSpPr/>
          <p:nvPr/>
        </p:nvSpPr>
        <p:spPr>
          <a:xfrm>
            <a:off x="0" y="7724775"/>
            <a:ext cx="37433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6"/>
          <p:cNvSpPr/>
          <p:nvPr/>
        </p:nvSpPr>
        <p:spPr>
          <a:xfrm>
            <a:off x="171450" y="7820025"/>
            <a:ext cx="34004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67" name="Text 57"/>
          <p:cNvSpPr/>
          <p:nvPr/>
        </p:nvSpPr>
        <p:spPr>
          <a:xfrm>
            <a:off x="272844" y="7972425"/>
            <a:ext cx="31976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carga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59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6484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carga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746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0" y="914400"/>
            <a:ext cx="3743325" cy="1990725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14" name="Shape 9"/>
          <p:cNvSpPr/>
          <p:nvPr/>
        </p:nvSpPr>
        <p:spPr>
          <a:xfrm>
            <a:off x="1490663" y="1238250"/>
            <a:ext cx="762000" cy="762000"/>
          </a:xfrm>
          <a:prstGeom prst="ellipse">
            <a:avLst/>
          </a:prstGeom>
          <a:solidFill>
            <a:srgbClr val="FFFFFF">
              <a:alpha val="18000"/>
            </a:srgbClr>
          </a:solidFill>
          <a:ln w="28575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1638" y="1419225"/>
            <a:ext cx="400050" cy="4000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294" y="2152650"/>
            <a:ext cx="36147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¡Listo!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4294" y="2447925"/>
            <a:ext cx="36147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Cargaste </a:t>
            </a:r>
            <a:pPr algn="ctr" indent="0" marL="0">
              <a:buNone/>
            </a:pPr>
            <a:r>
              <a:rPr lang="en-US" sz="1125" b="1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$15.000</a:t>
            </a:r>
            <a:endParaRPr lang="en-US" sz="1125" dirty="0"/>
          </a:p>
        </p:txBody>
      </p:sp>
      <p:sp>
        <p:nvSpPr>
          <p:cNvPr id="18" name="Shape 12"/>
          <p:cNvSpPr/>
          <p:nvPr/>
        </p:nvSpPr>
        <p:spPr>
          <a:xfrm>
            <a:off x="171450" y="3228975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CECF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700" y="3324225"/>
            <a:ext cx="190500" cy="190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6750" y="3271838"/>
            <a:ext cx="31956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endParaRPr lang="en-US" sz="863" dirty="0"/>
          </a:p>
        </p:txBody>
      </p:sp>
      <p:sp>
        <p:nvSpPr>
          <p:cNvPr id="21" name="Text 14"/>
          <p:cNvSpPr/>
          <p:nvPr/>
        </p:nvSpPr>
        <p:spPr>
          <a:xfrm>
            <a:off x="666750" y="3405188"/>
            <a:ext cx="31956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saldo en MP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66888" y="3724275"/>
            <a:ext cx="209550" cy="20955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71450" y="4048125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CECFB"/>
          </a:solidFill>
          <a:ln/>
        </p:spPr>
      </p:sp>
      <p:sp>
        <p:nvSpPr>
          <p:cNvPr id="24" name="Text 16"/>
          <p:cNvSpPr/>
          <p:nvPr/>
        </p:nvSpPr>
        <p:spPr>
          <a:xfrm>
            <a:off x="133350" y="404812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666750" y="4086225"/>
            <a:ext cx="31956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fondo</a:t>
            </a:r>
            <a:endParaRPr lang="en-US" sz="863" dirty="0"/>
          </a:p>
        </p:txBody>
      </p:sp>
      <p:sp>
        <p:nvSpPr>
          <p:cNvPr id="26" name="Text 18"/>
          <p:cNvSpPr/>
          <p:nvPr/>
        </p:nvSpPr>
        <p:spPr>
          <a:xfrm>
            <a:off x="666750" y="4219575"/>
            <a:ext cx="31956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 🏔️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171450" y="4676775"/>
            <a:ext cx="3400425" cy="1381125"/>
          </a:xfrm>
          <a:prstGeom prst="roundRect">
            <a:avLst>
              <a:gd name="adj" fmla="val 11034"/>
            </a:avLst>
          </a:prstGeom>
          <a:solidFill>
            <a:srgbClr val="F5F5FE"/>
          </a:solidFill>
          <a:ln w="14288">
            <a:solidFill>
              <a:srgbClr val="DCDCF6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338138" y="4862513"/>
            <a:ext cx="12013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total del fondo</a:t>
            </a:r>
            <a:endParaRPr lang="en-US" sz="938" dirty="0"/>
          </a:p>
        </p:txBody>
      </p:sp>
      <p:sp>
        <p:nvSpPr>
          <p:cNvPr id="29" name="Shape 21"/>
          <p:cNvSpPr/>
          <p:nvPr/>
        </p:nvSpPr>
        <p:spPr>
          <a:xfrm>
            <a:off x="2768650" y="4843463"/>
            <a:ext cx="636538" cy="180975"/>
          </a:xfrm>
          <a:prstGeom prst="roundRect">
            <a:avLst>
              <a:gd name="adj" fmla="val 42105"/>
            </a:avLst>
          </a:prstGeom>
          <a:solidFill>
            <a:srgbClr val="E3F7EC"/>
          </a:solidFill>
          <a:ln/>
        </p:spPr>
      </p:sp>
      <p:sp>
        <p:nvSpPr>
          <p:cNvPr id="30" name="Text 22"/>
          <p:cNvSpPr/>
          <p:nvPr/>
        </p:nvSpPr>
        <p:spPr>
          <a:xfrm>
            <a:off x="2844850" y="4872038"/>
            <a:ext cx="5603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$15.000</a:t>
            </a:r>
            <a:endParaRPr lang="en-US" sz="825" dirty="0"/>
          </a:p>
        </p:txBody>
      </p:sp>
      <p:sp>
        <p:nvSpPr>
          <p:cNvPr id="31" name="Text 23"/>
          <p:cNvSpPr/>
          <p:nvPr/>
        </p:nvSpPr>
        <p:spPr>
          <a:xfrm>
            <a:off x="338138" y="5062538"/>
            <a:ext cx="33737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$42.500</a:t>
            </a:r>
            <a:endParaRPr lang="en-US" sz="2250" dirty="0"/>
          </a:p>
        </p:txBody>
      </p:sp>
      <p:sp>
        <p:nvSpPr>
          <p:cNvPr id="32" name="Shape 24"/>
          <p:cNvSpPr/>
          <p:nvPr/>
        </p:nvSpPr>
        <p:spPr>
          <a:xfrm>
            <a:off x="338138" y="5519738"/>
            <a:ext cx="3067050" cy="9525"/>
          </a:xfrm>
          <a:prstGeom prst="rect">
            <a:avLst/>
          </a:prstGeom>
          <a:solidFill>
            <a:srgbClr val="D3D3F0"/>
          </a:solidFill>
          <a:ln/>
        </p:spPr>
      </p:sp>
      <p:sp>
        <p:nvSpPr>
          <p:cNvPr id="33" name="Shape 25"/>
          <p:cNvSpPr/>
          <p:nvPr/>
        </p:nvSpPr>
        <p:spPr>
          <a:xfrm>
            <a:off x="338138" y="5643563"/>
            <a:ext cx="247650" cy="247650"/>
          </a:xfrm>
          <a:prstGeom prst="ellipse">
            <a:avLst/>
          </a:prstGeom>
          <a:solidFill>
            <a:srgbClr val="5D5F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19088" y="566261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509587" y="5643563"/>
            <a:ext cx="247650" cy="247650"/>
          </a:xfrm>
          <a:prstGeom prst="ellipse">
            <a:avLst/>
          </a:prstGeom>
          <a:solidFill>
            <a:srgbClr val="9B6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90538" y="566261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681038" y="5643563"/>
            <a:ext cx="247650" cy="247650"/>
          </a:xfrm>
          <a:prstGeom prst="ellipse">
            <a:avLst/>
          </a:prstGeom>
          <a:solidFill>
            <a:srgbClr val="00A6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61988" y="566261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852488" y="5643563"/>
            <a:ext cx="247650" cy="24765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33438" y="5662613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1166813" y="5700713"/>
            <a:ext cx="19149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Contribuciones de 4 participantes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71450" y="7820025"/>
            <a:ext cx="34004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43" name="Text 35"/>
          <p:cNvSpPr/>
          <p:nvPr/>
        </p:nvSpPr>
        <p:spPr>
          <a:xfrm>
            <a:off x="272844" y="7972425"/>
            <a:ext cx="31976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al fondo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7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20792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con QR desde el fondo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101820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101820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400050"/>
          </a:xfrm>
          <a:prstGeom prst="rect">
            <a:avLst/>
          </a:prstGeom>
          <a:solidFill>
            <a:srgbClr val="10182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9525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957263"/>
            <a:ext cx="17034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con el fondo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171450" y="1314450"/>
            <a:ext cx="3400425" cy="495300"/>
          </a:xfrm>
          <a:prstGeom prst="roundRect">
            <a:avLst>
              <a:gd name="adj" fmla="val 26923"/>
            </a:avLst>
          </a:prstGeom>
          <a:solidFill>
            <a:srgbClr val="1C2733"/>
          </a:solidFill>
          <a:ln/>
        </p:spPr>
      </p:sp>
      <p:sp>
        <p:nvSpPr>
          <p:cNvPr id="16" name="Text 10"/>
          <p:cNvSpPr/>
          <p:nvPr/>
        </p:nvSpPr>
        <p:spPr>
          <a:xfrm>
            <a:off x="304800" y="1457325"/>
            <a:ext cx="304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28650" y="1428750"/>
            <a:ext cx="131541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7D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DESDE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28650" y="1543050"/>
            <a:ext cx="13154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a Bariloche 🏔️</a:t>
            </a:r>
            <a:endParaRPr lang="en-US" sz="1013" dirty="0"/>
          </a:p>
        </p:txBody>
      </p:sp>
      <p:sp>
        <p:nvSpPr>
          <p:cNvPr id="19" name="Shape 13"/>
          <p:cNvSpPr/>
          <p:nvPr/>
        </p:nvSpPr>
        <p:spPr>
          <a:xfrm>
            <a:off x="2981325" y="14287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5D5FDC"/>
          </a:solidFill>
          <a:ln/>
        </p:spPr>
      </p:sp>
      <p:sp>
        <p:nvSpPr>
          <p:cNvPr id="20" name="Shape 14"/>
          <p:cNvSpPr/>
          <p:nvPr/>
        </p:nvSpPr>
        <p:spPr>
          <a:xfrm>
            <a:off x="3200400" y="1457325"/>
            <a:ext cx="209550" cy="2095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171450" y="1981200"/>
            <a:ext cx="3400425" cy="5048250"/>
          </a:xfrm>
          <a:prstGeom prst="roundRect">
            <a:avLst>
              <a:gd name="adj" fmla="val 5042"/>
            </a:avLst>
          </a:prstGeom>
          <a:gradFill rotWithShape="1">
            <a:gsLst>
              <a:gs pos="0">
                <a:srgbClr val="2A3A48">
                  <a:alpha val="100000"/>
                </a:srgbClr>
              </a:gs>
              <a:gs pos="100000">
                <a:srgbClr val="141D26">
                  <a:alpha val="100000"/>
                </a:srgbClr>
              </a:gs>
            </a:gsLst>
            <a:path path="circle">
              <a:fillToRect l="50000" t="45000" r="50000" b="55000"/>
            </a:path>
          </a:gradFill>
          <a:ln/>
        </p:spPr>
      </p:sp>
      <p:sp>
        <p:nvSpPr>
          <p:cNvPr id="22" name="Shape 16"/>
          <p:cNvSpPr/>
          <p:nvPr/>
        </p:nvSpPr>
        <p:spPr>
          <a:xfrm>
            <a:off x="171450" y="1981200"/>
            <a:ext cx="3400425" cy="5048250"/>
          </a:xfrm>
          <a:prstGeom prst="rect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3" name="Shape 17"/>
          <p:cNvSpPr/>
          <p:nvPr/>
        </p:nvSpPr>
        <p:spPr>
          <a:xfrm>
            <a:off x="919162" y="3552825"/>
            <a:ext cx="361950" cy="3810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4" name="Shape 18"/>
          <p:cNvSpPr/>
          <p:nvPr/>
        </p:nvSpPr>
        <p:spPr>
          <a:xfrm>
            <a:off x="919162" y="3552825"/>
            <a:ext cx="38100" cy="36195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5" name="Shape 19"/>
          <p:cNvSpPr/>
          <p:nvPr/>
        </p:nvSpPr>
        <p:spPr>
          <a:xfrm>
            <a:off x="2462213" y="3552825"/>
            <a:ext cx="361950" cy="3810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6" name="Shape 20"/>
          <p:cNvSpPr/>
          <p:nvPr/>
        </p:nvSpPr>
        <p:spPr>
          <a:xfrm>
            <a:off x="2786063" y="3552825"/>
            <a:ext cx="38100" cy="36195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7" name="Shape 21"/>
          <p:cNvSpPr/>
          <p:nvPr/>
        </p:nvSpPr>
        <p:spPr>
          <a:xfrm>
            <a:off x="919162" y="5419725"/>
            <a:ext cx="361950" cy="3810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8" name="Shape 22"/>
          <p:cNvSpPr/>
          <p:nvPr/>
        </p:nvSpPr>
        <p:spPr>
          <a:xfrm>
            <a:off x="919162" y="5095875"/>
            <a:ext cx="38100" cy="36195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9" name="Shape 23"/>
          <p:cNvSpPr/>
          <p:nvPr/>
        </p:nvSpPr>
        <p:spPr>
          <a:xfrm>
            <a:off x="2462213" y="5419725"/>
            <a:ext cx="361950" cy="3810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30" name="Shape 24"/>
          <p:cNvSpPr/>
          <p:nvPr/>
        </p:nvSpPr>
        <p:spPr>
          <a:xfrm>
            <a:off x="2786063" y="5095875"/>
            <a:ext cx="38100" cy="361950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31" name="Shape 25"/>
          <p:cNvSpPr/>
          <p:nvPr/>
        </p:nvSpPr>
        <p:spPr>
          <a:xfrm>
            <a:off x="995363" y="4505325"/>
            <a:ext cx="1752600" cy="23813"/>
          </a:xfrm>
          <a:prstGeom prst="rect">
            <a:avLst/>
          </a:prstGeom>
          <a:solidFill>
            <a:srgbClr val="5D5FDC"/>
          </a:solidFill>
          <a:ln/>
          <a:effectLst>
            <a:outerShdw sx="100000" sy="100000" kx="0" ky="0" algn="bl" rotWithShape="0" blurRad="133350" dist="50800" dir="16200000">
              <a:srgbClr val="5D5FDC">
                <a:alpha val="80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1429" y="6734175"/>
            <a:ext cx="37404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Apuntá al código QR del comercio</a:t>
            </a:r>
            <a:endParaRPr lang="en-US" sz="938" dirty="0"/>
          </a:p>
        </p:txBody>
      </p:sp>
      <p:sp>
        <p:nvSpPr>
          <p:cNvPr id="33" name="Shape 27"/>
          <p:cNvSpPr/>
          <p:nvPr/>
        </p:nvSpPr>
        <p:spPr>
          <a:xfrm>
            <a:off x="0" y="7200900"/>
            <a:ext cx="3743325" cy="647700"/>
          </a:xfrm>
          <a:prstGeom prst="rect">
            <a:avLst/>
          </a:prstGeom>
          <a:solidFill>
            <a:srgbClr val="101820"/>
          </a:solidFill>
          <a:ln/>
        </p:spPr>
      </p:sp>
      <p:sp>
        <p:nvSpPr>
          <p:cNvPr id="34" name="Shape 28"/>
          <p:cNvSpPr/>
          <p:nvPr/>
        </p:nvSpPr>
        <p:spPr>
          <a:xfrm>
            <a:off x="652016" y="7200900"/>
            <a:ext cx="2439293" cy="333375"/>
          </a:xfrm>
          <a:prstGeom prst="roundRect">
            <a:avLst>
              <a:gd name="adj" fmla="val 50000"/>
            </a:avLst>
          </a:prstGeom>
          <a:solidFill>
            <a:srgbClr val="1C2733"/>
          </a:solidFill>
          <a:ln/>
        </p:spPr>
      </p:sp>
      <p:sp>
        <p:nvSpPr>
          <p:cNvPr id="35" name="Text 29"/>
          <p:cNvSpPr/>
          <p:nvPr/>
        </p:nvSpPr>
        <p:spPr>
          <a:xfrm>
            <a:off x="727717" y="7296150"/>
            <a:ext cx="16873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disponible en el fondo:</a:t>
            </a:r>
            <a:endParaRPr lang="en-US" sz="938" dirty="0"/>
          </a:p>
        </p:txBody>
      </p:sp>
      <p:sp>
        <p:nvSpPr>
          <p:cNvPr id="36" name="Text 30"/>
          <p:cNvSpPr/>
          <p:nvPr/>
        </p:nvSpPr>
        <p:spPr>
          <a:xfrm>
            <a:off x="2376488" y="7286625"/>
            <a:ext cx="6005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$42.500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138589" y="7648575"/>
            <a:ext cx="34661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D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gasto quedará registrado para todos los participantes del fondo.</a:t>
            </a:r>
            <a:endParaRPr lang="en-US" sz="825" dirty="0"/>
          </a:p>
        </p:txBody>
      </p:sp>
      <p:sp>
        <p:nvSpPr>
          <p:cNvPr id="38" name="Shape 32"/>
          <p:cNvSpPr/>
          <p:nvPr/>
        </p:nvSpPr>
        <p:spPr>
          <a:xfrm>
            <a:off x="0" y="7848600"/>
            <a:ext cx="3743325" cy="533400"/>
          </a:xfrm>
          <a:prstGeom prst="rect">
            <a:avLst/>
          </a:prstGeom>
          <a:solidFill>
            <a:srgbClr val="101820"/>
          </a:solidFill>
          <a:ln/>
        </p:spPr>
      </p:sp>
      <p:sp>
        <p:nvSpPr>
          <p:cNvPr id="39" name="Shape 33"/>
          <p:cNvSpPr/>
          <p:nvPr/>
        </p:nvSpPr>
        <p:spPr>
          <a:xfrm>
            <a:off x="0" y="7848600"/>
            <a:ext cx="3743325" cy="9525"/>
          </a:xfrm>
          <a:prstGeom prst="rect">
            <a:avLst/>
          </a:prstGeom>
          <a:solidFill>
            <a:srgbClr val="1F2A36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0038" y="7924800"/>
            <a:ext cx="219075" cy="21907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251668" y="8172450"/>
            <a:ext cx="3918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75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1081" y="7924800"/>
            <a:ext cx="219075" cy="21907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69020" y="8172450"/>
            <a:ext cx="41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1652588" y="7800975"/>
            <a:ext cx="438150" cy="438150"/>
          </a:xfrm>
          <a:prstGeom prst="ellipse">
            <a:avLst/>
          </a:prstGeom>
          <a:solidFill>
            <a:srgbClr val="5D5FDC"/>
          </a:solidFill>
          <a:ln/>
          <a:effectLst>
            <a:outerShdw sx="100000" sy="100000" kx="0" ky="0" algn="bl" rotWithShape="0" blurRad="133350" dist="57150" dir="5400000">
              <a:srgbClr val="5D5FDC">
                <a:alpha val="55000"/>
              </a:srgbClr>
            </a:outerShdw>
          </a:effectLst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7363" y="7905750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803797" y="8267700"/>
            <a:ext cx="2117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D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75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93169" y="7924800"/>
            <a:ext cx="219075" cy="219075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2404765" y="8172450"/>
            <a:ext cx="4720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75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24213" y="7924800"/>
            <a:ext cx="219075" cy="219075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3246090" y="8172450"/>
            <a:ext cx="251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endParaRPr lang="en-US" sz="750" dirty="0"/>
          </a:p>
        </p:txBody>
      </p:sp>
      <p:sp>
        <p:nvSpPr>
          <p:cNvPr id="51" name="Shape 40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101820"/>
          </a:solidFill>
          <a:ln/>
        </p:spPr>
      </p:sp>
      <p:sp>
        <p:nvSpPr>
          <p:cNvPr id="52" name="Shape 41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0346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realizado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746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0" y="914400"/>
            <a:ext cx="3743325" cy="211455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14" name="Shape 9"/>
          <p:cNvSpPr/>
          <p:nvPr/>
        </p:nvSpPr>
        <p:spPr>
          <a:xfrm>
            <a:off x="1500188" y="1219200"/>
            <a:ext cx="742950" cy="742950"/>
          </a:xfrm>
          <a:prstGeom prst="ellipse">
            <a:avLst/>
          </a:prstGeom>
          <a:solidFill>
            <a:srgbClr val="FFFFFF">
              <a:alpha val="18000"/>
            </a:srgbClr>
          </a:solidFill>
          <a:ln w="28575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81163" y="1400175"/>
            <a:ext cx="381000" cy="381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294" y="2095500"/>
            <a:ext cx="36147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realizado</a:t>
            </a:r>
            <a:endParaRPr lang="en-US" sz="1575" dirty="0"/>
          </a:p>
        </p:txBody>
      </p:sp>
      <p:sp>
        <p:nvSpPr>
          <p:cNvPr id="17" name="Text 11"/>
          <p:cNvSpPr/>
          <p:nvPr/>
        </p:nvSpPr>
        <p:spPr>
          <a:xfrm>
            <a:off x="64294" y="2390775"/>
            <a:ext cx="36147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$8.400</a:t>
            </a:r>
            <a:endParaRPr lang="en-US" sz="2475" dirty="0"/>
          </a:p>
        </p:txBody>
      </p:sp>
      <p:sp>
        <p:nvSpPr>
          <p:cNvPr id="18" name="Shape 12"/>
          <p:cNvSpPr/>
          <p:nvPr/>
        </p:nvSpPr>
        <p:spPr>
          <a:xfrm>
            <a:off x="171450" y="3219450"/>
            <a:ext cx="3400425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4288">
            <a:solidFill>
              <a:srgbClr val="EEEE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38138" y="3919537"/>
            <a:ext cx="3067050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Shape 14"/>
          <p:cNvSpPr/>
          <p:nvPr/>
        </p:nvSpPr>
        <p:spPr>
          <a:xfrm>
            <a:off x="338138" y="3395663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CEEE9"/>
          </a:solidFill>
          <a:ln/>
        </p:spPr>
      </p:sp>
      <p:sp>
        <p:nvSpPr>
          <p:cNvPr id="21" name="Text 15"/>
          <p:cNvSpPr/>
          <p:nvPr/>
        </p:nvSpPr>
        <p:spPr>
          <a:xfrm>
            <a:off x="300038" y="33956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52488" y="3443288"/>
            <a:ext cx="28079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El Patagónico</a:t>
            </a:r>
            <a:endParaRPr lang="en-US" sz="1088" dirty="0"/>
          </a:p>
        </p:txBody>
      </p:sp>
      <p:sp>
        <p:nvSpPr>
          <p:cNvPr id="23" name="Text 17"/>
          <p:cNvSpPr/>
          <p:nvPr/>
        </p:nvSpPr>
        <p:spPr>
          <a:xfrm>
            <a:off x="852488" y="3614738"/>
            <a:ext cx="28079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· 21:32 hs</a:t>
            </a:r>
            <a:endParaRPr lang="en-US" sz="863" dirty="0"/>
          </a:p>
        </p:txBody>
      </p:sp>
      <p:sp>
        <p:nvSpPr>
          <p:cNvPr id="24" name="Text 18"/>
          <p:cNvSpPr/>
          <p:nvPr/>
        </p:nvSpPr>
        <p:spPr>
          <a:xfrm>
            <a:off x="338138" y="4057650"/>
            <a:ext cx="8285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 desde</a:t>
            </a:r>
            <a:endParaRPr lang="en-US" sz="938" dirty="0"/>
          </a:p>
        </p:txBody>
      </p:sp>
      <p:sp>
        <p:nvSpPr>
          <p:cNvPr id="25" name="Text 19"/>
          <p:cNvSpPr/>
          <p:nvPr/>
        </p:nvSpPr>
        <p:spPr>
          <a:xfrm>
            <a:off x="2209354" y="4052888"/>
            <a:ext cx="13154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Viaje a Bariloche</a:t>
            </a:r>
            <a:endParaRPr lang="en-US" sz="1013" dirty="0"/>
          </a:p>
        </p:txBody>
      </p:sp>
      <p:sp>
        <p:nvSpPr>
          <p:cNvPr id="26" name="Shape 20"/>
          <p:cNvSpPr/>
          <p:nvPr/>
        </p:nvSpPr>
        <p:spPr>
          <a:xfrm>
            <a:off x="171450" y="4514850"/>
            <a:ext cx="3400425" cy="1152525"/>
          </a:xfrm>
          <a:prstGeom prst="roundRect">
            <a:avLst>
              <a:gd name="adj" fmla="val 13223"/>
            </a:avLst>
          </a:prstGeom>
          <a:solidFill>
            <a:srgbClr val="F5F5FE"/>
          </a:solidFill>
          <a:ln w="14288">
            <a:solidFill>
              <a:srgbClr val="DCDCF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138" y="4681538"/>
            <a:ext cx="190500" cy="1905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4363" y="4705350"/>
            <a:ext cx="1602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3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Dividido entre 4 personas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338584" y="5005388"/>
            <a:ext cx="323850" cy="323850"/>
          </a:xfrm>
          <a:prstGeom prst="ellipse">
            <a:avLst/>
          </a:prstGeom>
          <a:solidFill>
            <a:srgbClr val="5D5FDC"/>
          </a:solidFill>
          <a:ln/>
        </p:spPr>
      </p:sp>
      <p:sp>
        <p:nvSpPr>
          <p:cNvPr id="30" name="Text 23"/>
          <p:cNvSpPr/>
          <p:nvPr/>
        </p:nvSpPr>
        <p:spPr>
          <a:xfrm>
            <a:off x="300484" y="500538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75" dirty="0"/>
          </a:p>
        </p:txBody>
      </p:sp>
      <p:sp>
        <p:nvSpPr>
          <p:cNvPr id="31" name="Text 24"/>
          <p:cNvSpPr/>
          <p:nvPr/>
        </p:nvSpPr>
        <p:spPr>
          <a:xfrm>
            <a:off x="300038" y="5376863"/>
            <a:ext cx="4010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endParaRPr lang="en-US" sz="825" dirty="0"/>
          </a:p>
        </p:txBody>
      </p:sp>
      <p:sp>
        <p:nvSpPr>
          <p:cNvPr id="32" name="Shape 25"/>
          <p:cNvSpPr/>
          <p:nvPr/>
        </p:nvSpPr>
        <p:spPr>
          <a:xfrm>
            <a:off x="1252538" y="5005388"/>
            <a:ext cx="323850" cy="32385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33" name="Text 26"/>
          <p:cNvSpPr/>
          <p:nvPr/>
        </p:nvSpPr>
        <p:spPr>
          <a:xfrm>
            <a:off x="1214438" y="500538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75" dirty="0"/>
          </a:p>
        </p:txBody>
      </p:sp>
      <p:sp>
        <p:nvSpPr>
          <p:cNvPr id="34" name="Text 27"/>
          <p:cNvSpPr/>
          <p:nvPr/>
        </p:nvSpPr>
        <p:spPr>
          <a:xfrm>
            <a:off x="1213991" y="5376863"/>
            <a:ext cx="4010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endParaRPr lang="en-US" sz="825" dirty="0"/>
          </a:p>
        </p:txBody>
      </p:sp>
      <p:sp>
        <p:nvSpPr>
          <p:cNvPr id="35" name="Shape 28"/>
          <p:cNvSpPr/>
          <p:nvPr/>
        </p:nvSpPr>
        <p:spPr>
          <a:xfrm>
            <a:off x="2166491" y="5005388"/>
            <a:ext cx="323850" cy="32385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36" name="Text 29"/>
          <p:cNvSpPr/>
          <p:nvPr/>
        </p:nvSpPr>
        <p:spPr>
          <a:xfrm>
            <a:off x="2128391" y="500538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975" dirty="0"/>
          </a:p>
        </p:txBody>
      </p:sp>
      <p:sp>
        <p:nvSpPr>
          <p:cNvPr id="37" name="Text 30"/>
          <p:cNvSpPr/>
          <p:nvPr/>
        </p:nvSpPr>
        <p:spPr>
          <a:xfrm>
            <a:off x="2127945" y="5376863"/>
            <a:ext cx="4010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endParaRPr lang="en-US" sz="825" dirty="0"/>
          </a:p>
        </p:txBody>
      </p:sp>
      <p:sp>
        <p:nvSpPr>
          <p:cNvPr id="38" name="Shape 31"/>
          <p:cNvSpPr/>
          <p:nvPr/>
        </p:nvSpPr>
        <p:spPr>
          <a:xfrm>
            <a:off x="3080445" y="5005388"/>
            <a:ext cx="323850" cy="32385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9" name="Text 32"/>
          <p:cNvSpPr/>
          <p:nvPr/>
        </p:nvSpPr>
        <p:spPr>
          <a:xfrm>
            <a:off x="3042345" y="500538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3041898" y="5376863"/>
            <a:ext cx="40109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endParaRPr lang="en-US" sz="825" dirty="0"/>
          </a:p>
        </p:txBody>
      </p:sp>
      <p:sp>
        <p:nvSpPr>
          <p:cNvPr id="41" name="Shape 34"/>
          <p:cNvSpPr/>
          <p:nvPr/>
        </p:nvSpPr>
        <p:spPr>
          <a:xfrm>
            <a:off x="171450" y="7229475"/>
            <a:ext cx="34004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42" name="Text 35"/>
          <p:cNvSpPr/>
          <p:nvPr/>
        </p:nvSpPr>
        <p:spPr>
          <a:xfrm>
            <a:off x="272844" y="7381875"/>
            <a:ext cx="31976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detalle del gasto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171450" y="7810500"/>
            <a:ext cx="3400425" cy="49530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277606" y="7967662"/>
            <a:ext cx="318811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al fondo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9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4956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— Tab Gastos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771525"/>
          </a:xfrm>
          <a:prstGeom prst="rect">
            <a:avLst/>
          </a:prstGeom>
          <a:solidFill>
            <a:srgbClr val="5D5FD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500" y="97155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740" y="995363"/>
            <a:ext cx="14604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Viaje a Bariloche</a:t>
            </a:r>
            <a:endParaRPr lang="en-US" sz="11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4076" y="97155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78136" y="1371600"/>
            <a:ext cx="3631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641277" y="1276350"/>
            <a:ext cx="9001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$42.500</a:t>
            </a:r>
            <a:endParaRPr lang="en-US" sz="1650" dirty="0"/>
          </a:p>
        </p:txBody>
      </p:sp>
      <p:sp>
        <p:nvSpPr>
          <p:cNvPr id="18" name="Shape 11"/>
          <p:cNvSpPr/>
          <p:nvPr/>
        </p:nvSpPr>
        <p:spPr>
          <a:xfrm>
            <a:off x="0" y="1685925"/>
            <a:ext cx="3743325" cy="3762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2"/>
          <p:cNvSpPr/>
          <p:nvPr/>
        </p:nvSpPr>
        <p:spPr>
          <a:xfrm>
            <a:off x="0" y="2052637"/>
            <a:ext cx="374332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0" name="Text 13"/>
          <p:cNvSpPr/>
          <p:nvPr/>
        </p:nvSpPr>
        <p:spPr>
          <a:xfrm>
            <a:off x="171450" y="1781175"/>
            <a:ext cx="61600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013" dirty="0"/>
          </a:p>
        </p:txBody>
      </p:sp>
      <p:sp>
        <p:nvSpPr>
          <p:cNvPr id="21" name="Shape 14"/>
          <p:cNvSpPr/>
          <p:nvPr/>
        </p:nvSpPr>
        <p:spPr>
          <a:xfrm>
            <a:off x="939850" y="2028825"/>
            <a:ext cx="409277" cy="23813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2" name="Text 15"/>
          <p:cNvSpPr/>
          <p:nvPr/>
        </p:nvSpPr>
        <p:spPr>
          <a:xfrm>
            <a:off x="939850" y="1781175"/>
            <a:ext cx="4854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</a:t>
            </a:r>
            <a:endParaRPr lang="en-US" sz="1013" dirty="0"/>
          </a:p>
        </p:txBody>
      </p:sp>
      <p:sp>
        <p:nvSpPr>
          <p:cNvPr id="23" name="Text 16"/>
          <p:cNvSpPr/>
          <p:nvPr/>
        </p:nvSpPr>
        <p:spPr>
          <a:xfrm>
            <a:off x="1577727" y="1781175"/>
            <a:ext cx="593229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</a:t>
            </a:r>
            <a:endParaRPr lang="en-US" sz="1013" dirty="0"/>
          </a:p>
        </p:txBody>
      </p:sp>
      <p:sp>
        <p:nvSpPr>
          <p:cNvPr id="24" name="Shape 17"/>
          <p:cNvSpPr/>
          <p:nvPr/>
        </p:nvSpPr>
        <p:spPr>
          <a:xfrm>
            <a:off x="0" y="2062163"/>
            <a:ext cx="3743325" cy="57864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18"/>
          <p:cNvSpPr/>
          <p:nvPr/>
        </p:nvSpPr>
        <p:spPr>
          <a:xfrm>
            <a:off x="171450" y="2195513"/>
            <a:ext cx="3400425" cy="2657475"/>
          </a:xfrm>
          <a:prstGeom prst="roundRect">
            <a:avLst>
              <a:gd name="adj" fmla="val 5018"/>
            </a:avLst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304800" y="2862263"/>
            <a:ext cx="31337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Shape 20"/>
          <p:cNvSpPr/>
          <p:nvPr/>
        </p:nvSpPr>
        <p:spPr>
          <a:xfrm>
            <a:off x="304800" y="2338388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CEEE9"/>
          </a:solidFill>
          <a:ln/>
        </p:spPr>
      </p:sp>
      <p:sp>
        <p:nvSpPr>
          <p:cNvPr id="28" name="Text 21"/>
          <p:cNvSpPr/>
          <p:nvPr/>
        </p:nvSpPr>
        <p:spPr>
          <a:xfrm>
            <a:off x="266700" y="2338388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1425" dirty="0"/>
          </a:p>
        </p:txBody>
      </p:sp>
      <p:sp>
        <p:nvSpPr>
          <p:cNvPr id="29" name="Text 22"/>
          <p:cNvSpPr/>
          <p:nvPr/>
        </p:nvSpPr>
        <p:spPr>
          <a:xfrm>
            <a:off x="819150" y="2390775"/>
            <a:ext cx="22649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El Patagónico</a:t>
            </a:r>
            <a:endParaRPr lang="en-US" sz="1013" dirty="0"/>
          </a:p>
        </p:txBody>
      </p:sp>
      <p:sp>
        <p:nvSpPr>
          <p:cNvPr id="30" name="Text 23"/>
          <p:cNvSpPr/>
          <p:nvPr/>
        </p:nvSpPr>
        <p:spPr>
          <a:xfrm>
            <a:off x="819150" y="2562225"/>
            <a:ext cx="22649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Pagó: </a:t>
            </a:r>
            <a:pPr algn="l" indent="0" marL="0">
              <a:buNone/>
            </a:pPr>
            <a:r>
              <a:rPr lang="en-US" sz="825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</a:t>
            </a:r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hace 5 min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2992487" y="2457450"/>
            <a:ext cx="5222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$8.400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04800" y="3519488"/>
            <a:ext cx="31337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Shape 26"/>
          <p:cNvSpPr/>
          <p:nvPr/>
        </p:nvSpPr>
        <p:spPr>
          <a:xfrm>
            <a:off x="304800" y="2995613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8F1FC"/>
          </a:solidFill>
          <a:ln/>
        </p:spPr>
      </p:sp>
      <p:sp>
        <p:nvSpPr>
          <p:cNvPr id="34" name="Text 27"/>
          <p:cNvSpPr/>
          <p:nvPr/>
        </p:nvSpPr>
        <p:spPr>
          <a:xfrm>
            <a:off x="266700" y="299561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⛽</a:t>
            </a:r>
            <a:endParaRPr lang="en-US" sz="1425" dirty="0"/>
          </a:p>
        </p:txBody>
      </p:sp>
      <p:sp>
        <p:nvSpPr>
          <p:cNvPr id="35" name="Text 28"/>
          <p:cNvSpPr/>
          <p:nvPr/>
        </p:nvSpPr>
        <p:spPr>
          <a:xfrm>
            <a:off x="819150" y="3048000"/>
            <a:ext cx="2277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Nafta para el auto</a:t>
            </a:r>
            <a:endParaRPr lang="en-US" sz="1013" dirty="0"/>
          </a:p>
        </p:txBody>
      </p:sp>
      <p:sp>
        <p:nvSpPr>
          <p:cNvPr id="36" name="Text 29"/>
          <p:cNvSpPr/>
          <p:nvPr/>
        </p:nvSpPr>
        <p:spPr>
          <a:xfrm>
            <a:off x="819150" y="3219450"/>
            <a:ext cx="22777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Pagó: </a:t>
            </a:r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</a:t>
            </a:r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ayer</a:t>
            </a:r>
            <a:endParaRPr lang="en-US" sz="825" dirty="0"/>
          </a:p>
        </p:txBody>
      </p:sp>
      <p:sp>
        <p:nvSpPr>
          <p:cNvPr id="37" name="Text 30"/>
          <p:cNvSpPr/>
          <p:nvPr/>
        </p:nvSpPr>
        <p:spPr>
          <a:xfrm>
            <a:off x="3004096" y="3114675"/>
            <a:ext cx="5106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$6.200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304800" y="4176712"/>
            <a:ext cx="31337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Shape 32"/>
          <p:cNvSpPr/>
          <p:nvPr/>
        </p:nvSpPr>
        <p:spPr>
          <a:xfrm>
            <a:off x="304800" y="3652838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8F7EE"/>
          </a:solidFill>
          <a:ln/>
        </p:spPr>
      </p:sp>
      <p:sp>
        <p:nvSpPr>
          <p:cNvPr id="40" name="Text 33"/>
          <p:cNvSpPr/>
          <p:nvPr/>
        </p:nvSpPr>
        <p:spPr>
          <a:xfrm>
            <a:off x="266700" y="3652838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1425" dirty="0"/>
          </a:p>
        </p:txBody>
      </p:sp>
      <p:sp>
        <p:nvSpPr>
          <p:cNvPr id="41" name="Text 34"/>
          <p:cNvSpPr/>
          <p:nvPr/>
        </p:nvSpPr>
        <p:spPr>
          <a:xfrm>
            <a:off x="819150" y="3705225"/>
            <a:ext cx="22110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Supermercado</a:t>
            </a:r>
            <a:endParaRPr lang="en-US" sz="1013" dirty="0"/>
          </a:p>
        </p:txBody>
      </p:sp>
      <p:sp>
        <p:nvSpPr>
          <p:cNvPr id="42" name="Text 35"/>
          <p:cNvSpPr/>
          <p:nvPr/>
        </p:nvSpPr>
        <p:spPr>
          <a:xfrm>
            <a:off x="819150" y="3876675"/>
            <a:ext cx="22110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Pagó: </a:t>
            </a:r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 </a:t>
            </a:r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ayer</a:t>
            </a:r>
            <a:endParaRPr lang="en-US" sz="825" dirty="0"/>
          </a:p>
        </p:txBody>
      </p:sp>
      <p:sp>
        <p:nvSpPr>
          <p:cNvPr id="43" name="Text 36"/>
          <p:cNvSpPr/>
          <p:nvPr/>
        </p:nvSpPr>
        <p:spPr>
          <a:xfrm>
            <a:off x="2943523" y="3771900"/>
            <a:ext cx="57120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$12.800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304800" y="4310063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F3EBFC"/>
          </a:solidFill>
          <a:ln/>
        </p:spPr>
      </p:sp>
      <p:sp>
        <p:nvSpPr>
          <p:cNvPr id="45" name="Text 38"/>
          <p:cNvSpPr/>
          <p:nvPr/>
        </p:nvSpPr>
        <p:spPr>
          <a:xfrm>
            <a:off x="266700" y="431006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🏡</a:t>
            </a:r>
            <a:endParaRPr lang="en-US" sz="1425" dirty="0"/>
          </a:p>
        </p:txBody>
      </p:sp>
      <p:sp>
        <p:nvSpPr>
          <p:cNvPr id="46" name="Text 39"/>
          <p:cNvSpPr/>
          <p:nvPr/>
        </p:nvSpPr>
        <p:spPr>
          <a:xfrm>
            <a:off x="819150" y="4362450"/>
            <a:ext cx="21744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Alquiler cabaña</a:t>
            </a:r>
            <a:endParaRPr lang="en-US" sz="1013" dirty="0"/>
          </a:p>
        </p:txBody>
      </p:sp>
      <p:sp>
        <p:nvSpPr>
          <p:cNvPr id="47" name="Text 40"/>
          <p:cNvSpPr/>
          <p:nvPr/>
        </p:nvSpPr>
        <p:spPr>
          <a:xfrm>
            <a:off x="819150" y="4533900"/>
            <a:ext cx="217440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Pagó: </a:t>
            </a:r>
            <a:pPr algn="l" indent="0" marL="0"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 </a:t>
            </a:r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hace 2 días</a:t>
            </a:r>
            <a:endParaRPr lang="en-US" sz="825" dirty="0"/>
          </a:p>
        </p:txBody>
      </p:sp>
      <p:sp>
        <p:nvSpPr>
          <p:cNvPr id="48" name="Text 41"/>
          <p:cNvSpPr/>
          <p:nvPr/>
        </p:nvSpPr>
        <p:spPr>
          <a:xfrm>
            <a:off x="2910185" y="4429125"/>
            <a:ext cx="6045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$45.000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171450" y="4967288"/>
            <a:ext cx="3400425" cy="485775"/>
          </a:xfrm>
          <a:prstGeom prst="roundRect">
            <a:avLst>
              <a:gd name="adj" fmla="val 27451"/>
            </a:avLst>
          </a:prstGeom>
          <a:solidFill>
            <a:srgbClr val="222D3A"/>
          </a:solidFill>
          <a:ln/>
        </p:spPr>
      </p:sp>
      <p:sp>
        <p:nvSpPr>
          <p:cNvPr id="50" name="Text 43"/>
          <p:cNvSpPr/>
          <p:nvPr/>
        </p:nvSpPr>
        <p:spPr>
          <a:xfrm>
            <a:off x="323850" y="5138738"/>
            <a:ext cx="8370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E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gastado</a:t>
            </a:r>
            <a:endParaRPr lang="en-US" sz="975" dirty="0"/>
          </a:p>
        </p:txBody>
      </p:sp>
      <p:sp>
        <p:nvSpPr>
          <p:cNvPr id="51" name="Text 44"/>
          <p:cNvSpPr/>
          <p:nvPr/>
        </p:nvSpPr>
        <p:spPr>
          <a:xfrm>
            <a:off x="2711500" y="5100638"/>
            <a:ext cx="7841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$72.400</a:t>
            </a:r>
            <a:endParaRPr lang="en-US" sz="1425" dirty="0"/>
          </a:p>
        </p:txBody>
      </p:sp>
      <p:sp>
        <p:nvSpPr>
          <p:cNvPr id="52" name="Shape 45"/>
          <p:cNvSpPr/>
          <p:nvPr/>
        </p:nvSpPr>
        <p:spPr>
          <a:xfrm>
            <a:off x="0" y="7848600"/>
            <a:ext cx="3743325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6"/>
          <p:cNvSpPr/>
          <p:nvPr/>
        </p:nvSpPr>
        <p:spPr>
          <a:xfrm>
            <a:off x="0" y="7848600"/>
            <a:ext cx="3743325" cy="9525"/>
          </a:xfrm>
          <a:prstGeom prst="rect">
            <a:avLst/>
          </a:prstGeom>
          <a:solidFill>
            <a:srgbClr val="EEEEEE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0038" y="7924800"/>
            <a:ext cx="219075" cy="219075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251668" y="8172450"/>
            <a:ext cx="3918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75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1081" y="7924800"/>
            <a:ext cx="219075" cy="219075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969020" y="8172450"/>
            <a:ext cx="41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</a:t>
            </a:r>
            <a:endParaRPr lang="en-US" sz="750" dirty="0"/>
          </a:p>
        </p:txBody>
      </p:sp>
      <p:sp>
        <p:nvSpPr>
          <p:cNvPr id="58" name="Shape 49"/>
          <p:cNvSpPr/>
          <p:nvPr/>
        </p:nvSpPr>
        <p:spPr>
          <a:xfrm>
            <a:off x="1652588" y="7800975"/>
            <a:ext cx="438150" cy="438150"/>
          </a:xfrm>
          <a:prstGeom prst="ellipse">
            <a:avLst/>
          </a:prstGeom>
          <a:solidFill>
            <a:srgbClr val="5D5FDC"/>
          </a:solidFill>
          <a:ln/>
          <a:effectLst>
            <a:outerShdw sx="100000" sy="100000" kx="0" ky="0" algn="bl" rotWithShape="0" blurRad="133350" dist="57150" dir="5400000">
              <a:srgbClr val="5D5FDC">
                <a:alpha val="45000"/>
              </a:srgbClr>
            </a:outerShdw>
          </a:effectLst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57363" y="7905750"/>
            <a:ext cx="228600" cy="22860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1803797" y="8267700"/>
            <a:ext cx="2117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750" dirty="0"/>
          </a:p>
        </p:txBody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93169" y="7924800"/>
            <a:ext cx="219075" cy="219075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2404765" y="8172450"/>
            <a:ext cx="4720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75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24213" y="7924800"/>
            <a:ext cx="219075" cy="219075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3246090" y="8172450"/>
            <a:ext cx="251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endParaRPr lang="en-US" sz="750" dirty="0"/>
          </a:p>
        </p:txBody>
      </p:sp>
      <p:sp>
        <p:nvSpPr>
          <p:cNvPr id="65" name="Shape 53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4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6333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— Tab Balances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419100"/>
          </a:xfrm>
          <a:prstGeom prst="rect">
            <a:avLst/>
          </a:prstGeom>
          <a:solidFill>
            <a:srgbClr val="5D5FD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500" y="97155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740" y="995363"/>
            <a:ext cx="14604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Viaje a Bariloche</a:t>
            </a:r>
            <a:endParaRPr lang="en-US" sz="11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4076" y="971550"/>
            <a:ext cx="228600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0" y="1333500"/>
            <a:ext cx="3743325" cy="3762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0"/>
          <p:cNvSpPr/>
          <p:nvPr/>
        </p:nvSpPr>
        <p:spPr>
          <a:xfrm>
            <a:off x="0" y="1700213"/>
            <a:ext cx="374332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8" name="Text 11"/>
          <p:cNvSpPr/>
          <p:nvPr/>
        </p:nvSpPr>
        <p:spPr>
          <a:xfrm>
            <a:off x="171450" y="1428750"/>
            <a:ext cx="61600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013" dirty="0"/>
          </a:p>
        </p:txBody>
      </p:sp>
      <p:sp>
        <p:nvSpPr>
          <p:cNvPr id="19" name="Text 12"/>
          <p:cNvSpPr/>
          <p:nvPr/>
        </p:nvSpPr>
        <p:spPr>
          <a:xfrm>
            <a:off x="939850" y="1428750"/>
            <a:ext cx="484287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</a:t>
            </a:r>
            <a:endParaRPr lang="en-US" sz="1013" dirty="0"/>
          </a:p>
        </p:txBody>
      </p:sp>
      <p:sp>
        <p:nvSpPr>
          <p:cNvPr id="20" name="Shape 13"/>
          <p:cNvSpPr/>
          <p:nvPr/>
        </p:nvSpPr>
        <p:spPr>
          <a:xfrm>
            <a:off x="1576536" y="1676400"/>
            <a:ext cx="521940" cy="23813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21" name="Text 14"/>
          <p:cNvSpPr/>
          <p:nvPr/>
        </p:nvSpPr>
        <p:spPr>
          <a:xfrm>
            <a:off x="1576536" y="1428750"/>
            <a:ext cx="5981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</a:t>
            </a:r>
            <a:endParaRPr lang="en-US" sz="1013" dirty="0"/>
          </a:p>
        </p:txBody>
      </p:sp>
      <p:sp>
        <p:nvSpPr>
          <p:cNvPr id="22" name="Shape 15"/>
          <p:cNvSpPr/>
          <p:nvPr/>
        </p:nvSpPr>
        <p:spPr>
          <a:xfrm>
            <a:off x="0" y="1709738"/>
            <a:ext cx="3743325" cy="598646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16"/>
          <p:cNvSpPr/>
          <p:nvPr/>
        </p:nvSpPr>
        <p:spPr>
          <a:xfrm>
            <a:off x="171450" y="1843088"/>
            <a:ext cx="37404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puso cuánto?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171450" y="2138363"/>
            <a:ext cx="340042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323850" y="2271713"/>
            <a:ext cx="266700" cy="266700"/>
          </a:xfrm>
          <a:prstGeom prst="ellipse">
            <a:avLst/>
          </a:prstGeom>
          <a:solidFill>
            <a:srgbClr val="5D5FDC"/>
          </a:solidFill>
          <a:ln/>
        </p:spPr>
      </p:sp>
      <p:sp>
        <p:nvSpPr>
          <p:cNvPr id="26" name="Text 19"/>
          <p:cNvSpPr/>
          <p:nvPr/>
        </p:nvSpPr>
        <p:spPr>
          <a:xfrm>
            <a:off x="285750" y="2271713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676275" y="2333625"/>
            <a:ext cx="23769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975" dirty="0"/>
          </a:p>
        </p:txBody>
      </p:sp>
      <p:sp>
        <p:nvSpPr>
          <p:cNvPr id="28" name="Text 21"/>
          <p:cNvSpPr/>
          <p:nvPr/>
        </p:nvSpPr>
        <p:spPr>
          <a:xfrm>
            <a:off x="2922836" y="2333625"/>
            <a:ext cx="5728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$60.000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323850" y="2605088"/>
            <a:ext cx="3095625" cy="66675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323850" y="2605088"/>
            <a:ext cx="3095625" cy="66675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1" name="Shape 24"/>
          <p:cNvSpPr/>
          <p:nvPr/>
        </p:nvSpPr>
        <p:spPr>
          <a:xfrm>
            <a:off x="323850" y="2795588"/>
            <a:ext cx="266700" cy="2667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32" name="Text 25"/>
          <p:cNvSpPr/>
          <p:nvPr/>
        </p:nvSpPr>
        <p:spPr>
          <a:xfrm>
            <a:off x="285750" y="279558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25" dirty="0"/>
          </a:p>
        </p:txBody>
      </p:sp>
      <p:sp>
        <p:nvSpPr>
          <p:cNvPr id="33" name="Text 26"/>
          <p:cNvSpPr/>
          <p:nvPr/>
        </p:nvSpPr>
        <p:spPr>
          <a:xfrm>
            <a:off x="676275" y="2857500"/>
            <a:ext cx="24198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</a:t>
            </a:r>
            <a:endParaRPr lang="en-US" sz="975" dirty="0"/>
          </a:p>
        </p:txBody>
      </p:sp>
      <p:sp>
        <p:nvSpPr>
          <p:cNvPr id="34" name="Text 27"/>
          <p:cNvSpPr/>
          <p:nvPr/>
        </p:nvSpPr>
        <p:spPr>
          <a:xfrm>
            <a:off x="2961829" y="2857500"/>
            <a:ext cx="5338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$21.300</a:t>
            </a:r>
            <a:endParaRPr lang="en-US" sz="975" dirty="0"/>
          </a:p>
        </p:txBody>
      </p:sp>
      <p:sp>
        <p:nvSpPr>
          <p:cNvPr id="35" name="Shape 28"/>
          <p:cNvSpPr/>
          <p:nvPr/>
        </p:nvSpPr>
        <p:spPr>
          <a:xfrm>
            <a:off x="323850" y="3128963"/>
            <a:ext cx="3095625" cy="66675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36" name="Shape 29"/>
          <p:cNvSpPr/>
          <p:nvPr/>
        </p:nvSpPr>
        <p:spPr>
          <a:xfrm>
            <a:off x="323850" y="3128963"/>
            <a:ext cx="1098947" cy="66675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37" name="Shape 30"/>
          <p:cNvSpPr/>
          <p:nvPr/>
        </p:nvSpPr>
        <p:spPr>
          <a:xfrm>
            <a:off x="323850" y="3319463"/>
            <a:ext cx="266700" cy="26670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38" name="Text 31"/>
          <p:cNvSpPr/>
          <p:nvPr/>
        </p:nvSpPr>
        <p:spPr>
          <a:xfrm>
            <a:off x="285750" y="3319463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825" dirty="0"/>
          </a:p>
        </p:txBody>
      </p:sp>
      <p:sp>
        <p:nvSpPr>
          <p:cNvPr id="39" name="Text 32"/>
          <p:cNvSpPr/>
          <p:nvPr/>
        </p:nvSpPr>
        <p:spPr>
          <a:xfrm>
            <a:off x="676275" y="3381375"/>
            <a:ext cx="24122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2954982" y="3381375"/>
            <a:ext cx="5406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$14.700</a:t>
            </a:r>
            <a:endParaRPr lang="en-US" sz="975" dirty="0"/>
          </a:p>
        </p:txBody>
      </p:sp>
      <p:sp>
        <p:nvSpPr>
          <p:cNvPr id="41" name="Shape 34"/>
          <p:cNvSpPr/>
          <p:nvPr/>
        </p:nvSpPr>
        <p:spPr>
          <a:xfrm>
            <a:off x="323850" y="3652838"/>
            <a:ext cx="3095625" cy="66675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2" name="Shape 35"/>
          <p:cNvSpPr/>
          <p:nvPr/>
        </p:nvSpPr>
        <p:spPr>
          <a:xfrm>
            <a:off x="323850" y="3652838"/>
            <a:ext cx="758428" cy="66675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43" name="Shape 36"/>
          <p:cNvSpPr/>
          <p:nvPr/>
        </p:nvSpPr>
        <p:spPr>
          <a:xfrm>
            <a:off x="323850" y="3843338"/>
            <a:ext cx="266700" cy="2667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4" name="Text 37"/>
          <p:cNvSpPr/>
          <p:nvPr/>
        </p:nvSpPr>
        <p:spPr>
          <a:xfrm>
            <a:off x="285750" y="384333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25" dirty="0"/>
          </a:p>
        </p:txBody>
      </p:sp>
      <p:sp>
        <p:nvSpPr>
          <p:cNvPr id="45" name="Text 38"/>
          <p:cNvSpPr/>
          <p:nvPr/>
        </p:nvSpPr>
        <p:spPr>
          <a:xfrm>
            <a:off x="676275" y="3905250"/>
            <a:ext cx="24715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3008858" y="3905250"/>
            <a:ext cx="4868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$8.500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323850" y="4176712"/>
            <a:ext cx="3095625" cy="66675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8" name="Shape 41"/>
          <p:cNvSpPr/>
          <p:nvPr/>
        </p:nvSpPr>
        <p:spPr>
          <a:xfrm>
            <a:off x="323850" y="4176712"/>
            <a:ext cx="439489" cy="66675"/>
          </a:xfrm>
          <a:prstGeom prst="rect">
            <a:avLst/>
          </a:prstGeom>
          <a:solidFill>
            <a:srgbClr val="5D5FDC"/>
          </a:solidFill>
          <a:ln/>
        </p:spPr>
      </p:sp>
      <p:sp>
        <p:nvSpPr>
          <p:cNvPr id="49" name="Text 42"/>
          <p:cNvSpPr/>
          <p:nvPr/>
        </p:nvSpPr>
        <p:spPr>
          <a:xfrm>
            <a:off x="171450" y="4510088"/>
            <a:ext cx="37404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le debe a quién?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171450" y="4805363"/>
            <a:ext cx="3400425" cy="14668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1" name="Shape 44"/>
          <p:cNvSpPr/>
          <p:nvPr/>
        </p:nvSpPr>
        <p:spPr>
          <a:xfrm>
            <a:off x="323850" y="5300663"/>
            <a:ext cx="30956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2" name="Shape 45"/>
          <p:cNvSpPr/>
          <p:nvPr/>
        </p:nvSpPr>
        <p:spPr>
          <a:xfrm>
            <a:off x="323850" y="4957763"/>
            <a:ext cx="228600" cy="2286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3" name="Text 46"/>
          <p:cNvSpPr/>
          <p:nvPr/>
        </p:nvSpPr>
        <p:spPr>
          <a:xfrm>
            <a:off x="285750" y="495776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647700" y="5000625"/>
            <a:ext cx="24707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</a:t>
            </a:r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debe a </a:t>
            </a:r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975" dirty="0"/>
          </a:p>
        </p:txBody>
      </p:sp>
      <p:sp>
        <p:nvSpPr>
          <p:cNvPr id="55" name="Text 48"/>
          <p:cNvSpPr/>
          <p:nvPr/>
        </p:nvSpPr>
        <p:spPr>
          <a:xfrm>
            <a:off x="2989064" y="4995863"/>
            <a:ext cx="5066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23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$9.400</a:t>
            </a:r>
            <a:endParaRPr lang="en-US" sz="1013" dirty="0"/>
          </a:p>
        </p:txBody>
      </p:sp>
      <p:sp>
        <p:nvSpPr>
          <p:cNvPr id="56" name="Shape 49"/>
          <p:cNvSpPr/>
          <p:nvPr/>
        </p:nvSpPr>
        <p:spPr>
          <a:xfrm>
            <a:off x="323850" y="5767388"/>
            <a:ext cx="30956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7" name="Shape 50"/>
          <p:cNvSpPr/>
          <p:nvPr/>
        </p:nvSpPr>
        <p:spPr>
          <a:xfrm>
            <a:off x="323850" y="5424488"/>
            <a:ext cx="228600" cy="22860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58" name="Text 51"/>
          <p:cNvSpPr/>
          <p:nvPr/>
        </p:nvSpPr>
        <p:spPr>
          <a:xfrm>
            <a:off x="285750" y="542448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647700" y="5467350"/>
            <a:ext cx="24705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</a:t>
            </a:r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debe a </a:t>
            </a:r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975" dirty="0"/>
          </a:p>
        </p:txBody>
      </p:sp>
      <p:sp>
        <p:nvSpPr>
          <p:cNvPr id="60" name="Text 53"/>
          <p:cNvSpPr/>
          <p:nvPr/>
        </p:nvSpPr>
        <p:spPr>
          <a:xfrm>
            <a:off x="2988915" y="5462588"/>
            <a:ext cx="5067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23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$4.200</a:t>
            </a:r>
            <a:endParaRPr lang="en-US" sz="1013" dirty="0"/>
          </a:p>
        </p:txBody>
      </p:sp>
      <p:sp>
        <p:nvSpPr>
          <p:cNvPr id="61" name="Shape 54"/>
          <p:cNvSpPr/>
          <p:nvPr/>
        </p:nvSpPr>
        <p:spPr>
          <a:xfrm>
            <a:off x="323850" y="5891213"/>
            <a:ext cx="228600" cy="2286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62" name="Text 55"/>
          <p:cNvSpPr/>
          <p:nvPr/>
        </p:nvSpPr>
        <p:spPr>
          <a:xfrm>
            <a:off x="285750" y="5891213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647700" y="5934075"/>
            <a:ext cx="25006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 </a:t>
            </a:r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debe a </a:t>
            </a:r>
            <a:pPr algn="l" indent="0" marL="0">
              <a:buNone/>
            </a:pPr>
            <a:r>
              <a:rPr lang="en-US" sz="97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975" dirty="0"/>
          </a:p>
        </p:txBody>
      </p:sp>
      <p:sp>
        <p:nvSpPr>
          <p:cNvPr id="64" name="Text 57"/>
          <p:cNvSpPr/>
          <p:nvPr/>
        </p:nvSpPr>
        <p:spPr>
          <a:xfrm>
            <a:off x="3016300" y="5929313"/>
            <a:ext cx="4793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23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endParaRPr lang="en-US" sz="1013" dirty="0"/>
          </a:p>
        </p:txBody>
      </p:sp>
      <p:sp>
        <p:nvSpPr>
          <p:cNvPr id="65" name="Shape 58"/>
          <p:cNvSpPr/>
          <p:nvPr/>
        </p:nvSpPr>
        <p:spPr>
          <a:xfrm>
            <a:off x="0" y="7696200"/>
            <a:ext cx="374332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9"/>
          <p:cNvSpPr/>
          <p:nvPr/>
        </p:nvSpPr>
        <p:spPr>
          <a:xfrm>
            <a:off x="0" y="7696200"/>
            <a:ext cx="37433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7" name="Shape 60"/>
          <p:cNvSpPr/>
          <p:nvPr/>
        </p:nvSpPr>
        <p:spPr>
          <a:xfrm>
            <a:off x="190500" y="7820025"/>
            <a:ext cx="33623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68" name="Text 61"/>
          <p:cNvSpPr/>
          <p:nvPr/>
        </p:nvSpPr>
        <p:spPr>
          <a:xfrm>
            <a:off x="292465" y="7972425"/>
            <a:ext cx="31583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Liquidar fondo</a:t>
            </a:r>
            <a:endParaRPr lang="en-US" sz="1200" dirty="0"/>
          </a:p>
        </p:txBody>
      </p:sp>
      <p:sp>
        <p:nvSpPr>
          <p:cNvPr id="69" name="Shape 62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3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3502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liquidación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400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450" y="9525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400" y="957263"/>
            <a:ext cx="17104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liquidación</a:t>
            </a:r>
            <a:endParaRPr lang="en-US" sz="1425" dirty="0"/>
          </a:p>
        </p:txBody>
      </p:sp>
      <p:sp>
        <p:nvSpPr>
          <p:cNvPr id="15" name="Shape 9"/>
          <p:cNvSpPr/>
          <p:nvPr/>
        </p:nvSpPr>
        <p:spPr>
          <a:xfrm>
            <a:off x="0" y="1314450"/>
            <a:ext cx="3743325" cy="63817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0"/>
          <p:cNvSpPr/>
          <p:nvPr/>
        </p:nvSpPr>
        <p:spPr>
          <a:xfrm>
            <a:off x="171450" y="1447800"/>
            <a:ext cx="3400425" cy="638175"/>
          </a:xfrm>
          <a:prstGeom prst="roundRect">
            <a:avLst>
              <a:gd name="adj" fmla="val 20896"/>
            </a:avLst>
          </a:prstGeom>
          <a:solidFill>
            <a:srgbClr val="F5F5FE"/>
          </a:solidFill>
          <a:ln w="14288">
            <a:solidFill>
              <a:srgbClr val="DCDCF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138" y="1604963"/>
            <a:ext cx="209550" cy="2095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2463" y="1595438"/>
            <a:ext cx="28353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3A3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Calculamos el </a:t>
            </a:r>
            <a:pPr algn="l" indent="0" marL="0">
              <a:lnSpc>
                <a:spcPct val="145000"/>
              </a:lnSpc>
              <a:buNone/>
            </a:pPr>
            <a:r>
              <a:rPr lang="en-US" sz="938" b="1" dirty="0">
                <a:solidFill>
                  <a:srgbClr val="3A3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de transferencias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3A3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necesarias para que todos queden saldados.</a:t>
            </a:r>
            <a:endParaRPr lang="en-US" sz="938" dirty="0"/>
          </a:p>
        </p:txBody>
      </p:sp>
      <p:sp>
        <p:nvSpPr>
          <p:cNvPr id="19" name="Shape 12"/>
          <p:cNvSpPr/>
          <p:nvPr/>
        </p:nvSpPr>
        <p:spPr>
          <a:xfrm>
            <a:off x="171450" y="2219325"/>
            <a:ext cx="3400425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/>
        </p:spPr>
      </p:sp>
      <p:sp>
        <p:nvSpPr>
          <p:cNvPr id="20" name="Shape 13"/>
          <p:cNvSpPr/>
          <p:nvPr/>
        </p:nvSpPr>
        <p:spPr>
          <a:xfrm>
            <a:off x="323850" y="2352675"/>
            <a:ext cx="266700" cy="2667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4"/>
          <p:cNvSpPr/>
          <p:nvPr/>
        </p:nvSpPr>
        <p:spPr>
          <a:xfrm>
            <a:off x="285750" y="23526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25" dirty="0"/>
          </a:p>
        </p:txBody>
      </p:sp>
      <p:sp>
        <p:nvSpPr>
          <p:cNvPr id="22" name="Text 15"/>
          <p:cNvSpPr/>
          <p:nvPr/>
        </p:nvSpPr>
        <p:spPr>
          <a:xfrm>
            <a:off x="666750" y="2409825"/>
            <a:ext cx="3097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</a:t>
            </a:r>
            <a:endParaRPr lang="en-US" sz="1013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6461" y="2390775"/>
            <a:ext cx="190500" cy="1905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243161" y="2352675"/>
            <a:ext cx="266700" cy="266700"/>
          </a:xfrm>
          <a:prstGeom prst="ellipse">
            <a:avLst/>
          </a:prstGeom>
          <a:solidFill>
            <a:srgbClr val="5D5FDC"/>
          </a:solidFill>
          <a:ln/>
        </p:spPr>
      </p:sp>
      <p:sp>
        <p:nvSpPr>
          <p:cNvPr id="25" name="Text 17"/>
          <p:cNvSpPr/>
          <p:nvPr/>
        </p:nvSpPr>
        <p:spPr>
          <a:xfrm>
            <a:off x="1205061" y="23526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25" dirty="0"/>
          </a:p>
        </p:txBody>
      </p:sp>
      <p:sp>
        <p:nvSpPr>
          <p:cNvPr id="26" name="Text 18"/>
          <p:cNvSpPr/>
          <p:nvPr/>
        </p:nvSpPr>
        <p:spPr>
          <a:xfrm>
            <a:off x="1586061" y="2409825"/>
            <a:ext cx="5109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1013" dirty="0"/>
          </a:p>
        </p:txBody>
      </p:sp>
      <p:sp>
        <p:nvSpPr>
          <p:cNvPr id="27" name="Text 19"/>
          <p:cNvSpPr/>
          <p:nvPr/>
        </p:nvSpPr>
        <p:spPr>
          <a:xfrm>
            <a:off x="1964740" y="2400300"/>
            <a:ext cx="14547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$9.400</a:t>
            </a:r>
            <a:endParaRPr lang="en-US" sz="1125" dirty="0"/>
          </a:p>
        </p:txBody>
      </p:sp>
      <p:sp>
        <p:nvSpPr>
          <p:cNvPr id="28" name="Shape 20"/>
          <p:cNvSpPr/>
          <p:nvPr/>
        </p:nvSpPr>
        <p:spPr>
          <a:xfrm>
            <a:off x="323850" y="2733675"/>
            <a:ext cx="3095625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86953" y="2843213"/>
            <a:ext cx="29694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mi transferencia</a:t>
            </a:r>
            <a:endParaRPr lang="en-US" sz="975" dirty="0"/>
          </a:p>
        </p:txBody>
      </p:sp>
      <p:sp>
        <p:nvSpPr>
          <p:cNvPr id="30" name="Shape 22"/>
          <p:cNvSpPr/>
          <p:nvPr/>
        </p:nvSpPr>
        <p:spPr>
          <a:xfrm>
            <a:off x="171450" y="3333750"/>
            <a:ext cx="3400425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/>
        </p:spPr>
      </p:sp>
      <p:sp>
        <p:nvSpPr>
          <p:cNvPr id="31" name="Shape 23"/>
          <p:cNvSpPr/>
          <p:nvPr/>
        </p:nvSpPr>
        <p:spPr>
          <a:xfrm>
            <a:off x="323850" y="3467100"/>
            <a:ext cx="266700" cy="26670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32" name="Text 24"/>
          <p:cNvSpPr/>
          <p:nvPr/>
        </p:nvSpPr>
        <p:spPr>
          <a:xfrm>
            <a:off x="285750" y="34671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825" dirty="0"/>
          </a:p>
        </p:txBody>
      </p:sp>
      <p:sp>
        <p:nvSpPr>
          <p:cNvPr id="33" name="Text 25"/>
          <p:cNvSpPr/>
          <p:nvPr/>
        </p:nvSpPr>
        <p:spPr>
          <a:xfrm>
            <a:off x="666750" y="3524250"/>
            <a:ext cx="361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</a:t>
            </a:r>
            <a:endParaRPr lang="en-US" sz="1013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8700" y="3505200"/>
            <a:ext cx="190500" cy="1905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1295400" y="3467100"/>
            <a:ext cx="266700" cy="266700"/>
          </a:xfrm>
          <a:prstGeom prst="ellipse">
            <a:avLst/>
          </a:prstGeom>
          <a:solidFill>
            <a:srgbClr val="5D5FDC"/>
          </a:solidFill>
          <a:ln/>
        </p:spPr>
      </p:sp>
      <p:sp>
        <p:nvSpPr>
          <p:cNvPr id="36" name="Text 27"/>
          <p:cNvSpPr/>
          <p:nvPr/>
        </p:nvSpPr>
        <p:spPr>
          <a:xfrm>
            <a:off x="1257300" y="34671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25" dirty="0"/>
          </a:p>
        </p:txBody>
      </p:sp>
      <p:sp>
        <p:nvSpPr>
          <p:cNvPr id="37" name="Text 28"/>
          <p:cNvSpPr/>
          <p:nvPr/>
        </p:nvSpPr>
        <p:spPr>
          <a:xfrm>
            <a:off x="1638300" y="3524250"/>
            <a:ext cx="5109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1013" dirty="0"/>
          </a:p>
        </p:txBody>
      </p:sp>
      <p:sp>
        <p:nvSpPr>
          <p:cNvPr id="38" name="Text 29"/>
          <p:cNvSpPr/>
          <p:nvPr/>
        </p:nvSpPr>
        <p:spPr>
          <a:xfrm>
            <a:off x="2022202" y="3514725"/>
            <a:ext cx="13972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$4.200</a:t>
            </a:r>
            <a:endParaRPr lang="en-US" sz="1125" dirty="0"/>
          </a:p>
        </p:txBody>
      </p:sp>
      <p:sp>
        <p:nvSpPr>
          <p:cNvPr id="39" name="Shape 30"/>
          <p:cNvSpPr/>
          <p:nvPr/>
        </p:nvSpPr>
        <p:spPr>
          <a:xfrm>
            <a:off x="323850" y="3848100"/>
            <a:ext cx="3095625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86953" y="3957638"/>
            <a:ext cx="29694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mi transferencia</a:t>
            </a:r>
            <a:endParaRPr lang="en-US" sz="975" dirty="0"/>
          </a:p>
        </p:txBody>
      </p:sp>
      <p:sp>
        <p:nvSpPr>
          <p:cNvPr id="41" name="Shape 32"/>
          <p:cNvSpPr/>
          <p:nvPr/>
        </p:nvSpPr>
        <p:spPr>
          <a:xfrm>
            <a:off x="171450" y="4448175"/>
            <a:ext cx="3400425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323850" y="4581525"/>
            <a:ext cx="266700" cy="266700"/>
          </a:xfrm>
          <a:prstGeom prst="ellipse">
            <a:avLst/>
          </a:prstGeom>
          <a:solidFill>
            <a:srgbClr val="9B6BFF"/>
          </a:solidFill>
          <a:ln/>
        </p:spPr>
      </p:sp>
      <p:sp>
        <p:nvSpPr>
          <p:cNvPr id="43" name="Text 34"/>
          <p:cNvSpPr/>
          <p:nvPr/>
        </p:nvSpPr>
        <p:spPr>
          <a:xfrm>
            <a:off x="285750" y="45815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25" dirty="0"/>
          </a:p>
        </p:txBody>
      </p:sp>
      <p:sp>
        <p:nvSpPr>
          <p:cNvPr id="44" name="Text 35"/>
          <p:cNvSpPr/>
          <p:nvPr/>
        </p:nvSpPr>
        <p:spPr>
          <a:xfrm>
            <a:off x="666750" y="4638675"/>
            <a:ext cx="4060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</a:t>
            </a:r>
            <a:endParaRPr lang="en-US" sz="1013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2753" y="4619625"/>
            <a:ext cx="190500" cy="19050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1339453" y="4581525"/>
            <a:ext cx="266700" cy="266700"/>
          </a:xfrm>
          <a:prstGeom prst="ellipse">
            <a:avLst/>
          </a:prstGeom>
          <a:solidFill>
            <a:srgbClr val="5D5FDC"/>
          </a:solidFill>
          <a:ln/>
        </p:spPr>
      </p:sp>
      <p:sp>
        <p:nvSpPr>
          <p:cNvPr id="47" name="Text 37"/>
          <p:cNvSpPr/>
          <p:nvPr/>
        </p:nvSpPr>
        <p:spPr>
          <a:xfrm>
            <a:off x="1301353" y="45815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25" dirty="0"/>
          </a:p>
        </p:txBody>
      </p:sp>
      <p:sp>
        <p:nvSpPr>
          <p:cNvPr id="48" name="Text 38"/>
          <p:cNvSpPr/>
          <p:nvPr/>
        </p:nvSpPr>
        <p:spPr>
          <a:xfrm>
            <a:off x="1682353" y="4638675"/>
            <a:ext cx="5109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Ignacio</a:t>
            </a:r>
            <a:endParaRPr lang="en-US" sz="1013" dirty="0"/>
          </a:p>
        </p:txBody>
      </p:sp>
      <p:sp>
        <p:nvSpPr>
          <p:cNvPr id="49" name="Text 39"/>
          <p:cNvSpPr/>
          <p:nvPr/>
        </p:nvSpPr>
        <p:spPr>
          <a:xfrm>
            <a:off x="2070661" y="4629150"/>
            <a:ext cx="13488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endParaRPr lang="en-US" sz="1125" dirty="0"/>
          </a:p>
        </p:txBody>
      </p:sp>
      <p:sp>
        <p:nvSpPr>
          <p:cNvPr id="50" name="Shape 40"/>
          <p:cNvSpPr/>
          <p:nvPr/>
        </p:nvSpPr>
        <p:spPr>
          <a:xfrm>
            <a:off x="323850" y="4962525"/>
            <a:ext cx="3095625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386953" y="5072063"/>
            <a:ext cx="29694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mi transferencia</a:t>
            </a:r>
            <a:endParaRPr lang="en-US" sz="975" dirty="0"/>
          </a:p>
        </p:txBody>
      </p:sp>
      <p:sp>
        <p:nvSpPr>
          <p:cNvPr id="52" name="Shape 42"/>
          <p:cNvSpPr/>
          <p:nvPr/>
        </p:nvSpPr>
        <p:spPr>
          <a:xfrm>
            <a:off x="171450" y="5591175"/>
            <a:ext cx="3400425" cy="619125"/>
          </a:xfrm>
          <a:prstGeom prst="roundRect">
            <a:avLst>
              <a:gd name="adj" fmla="val 21538"/>
            </a:avLst>
          </a:prstGeom>
          <a:solidFill>
            <a:srgbClr val="E9F6EF"/>
          </a:solidFill>
          <a:ln w="14288">
            <a:solidFill>
              <a:srgbClr val="B9E6CD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338138" y="5738813"/>
            <a:ext cx="323850" cy="32385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54" name="Text 44"/>
          <p:cNvSpPr/>
          <p:nvPr/>
        </p:nvSpPr>
        <p:spPr>
          <a:xfrm>
            <a:off x="300038" y="573881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975" dirty="0"/>
          </a:p>
        </p:txBody>
      </p:sp>
      <p:sp>
        <p:nvSpPr>
          <p:cNvPr id="55" name="Text 45"/>
          <p:cNvSpPr/>
          <p:nvPr/>
        </p:nvSpPr>
        <p:spPr>
          <a:xfrm>
            <a:off x="766763" y="5762625"/>
            <a:ext cx="29022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(Ignacio)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766763" y="5895975"/>
            <a:ext cx="29022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C5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 a recibir $15.700 en tu billetera MP</a:t>
            </a:r>
            <a:endParaRPr lang="en-US" sz="975" dirty="0"/>
          </a:p>
        </p:txBody>
      </p:sp>
      <p:sp>
        <p:nvSpPr>
          <p:cNvPr id="57" name="Text 47"/>
          <p:cNvSpPr/>
          <p:nvPr/>
        </p:nvSpPr>
        <p:spPr>
          <a:xfrm>
            <a:off x="209550" y="6396038"/>
            <a:ext cx="894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 liquidar</a:t>
            </a:r>
            <a:endParaRPr lang="en-US" sz="975" dirty="0"/>
          </a:p>
        </p:txBody>
      </p:sp>
      <p:sp>
        <p:nvSpPr>
          <p:cNvPr id="58" name="Text 48"/>
          <p:cNvSpPr/>
          <p:nvPr/>
        </p:nvSpPr>
        <p:spPr>
          <a:xfrm>
            <a:off x="2900214" y="6362700"/>
            <a:ext cx="7097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$15.700</a:t>
            </a:r>
            <a:endParaRPr lang="en-US" sz="1350" dirty="0"/>
          </a:p>
        </p:txBody>
      </p:sp>
      <p:sp>
        <p:nvSpPr>
          <p:cNvPr id="59" name="Shape 49"/>
          <p:cNvSpPr/>
          <p:nvPr/>
        </p:nvSpPr>
        <p:spPr>
          <a:xfrm>
            <a:off x="0" y="7696200"/>
            <a:ext cx="374332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0"/>
          <p:cNvSpPr/>
          <p:nvPr/>
        </p:nvSpPr>
        <p:spPr>
          <a:xfrm>
            <a:off x="0" y="7696200"/>
            <a:ext cx="3743325" cy="952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1" name="Shape 51"/>
          <p:cNvSpPr/>
          <p:nvPr/>
        </p:nvSpPr>
        <p:spPr>
          <a:xfrm>
            <a:off x="190500" y="7820025"/>
            <a:ext cx="33623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62" name="Text 52"/>
          <p:cNvSpPr/>
          <p:nvPr/>
        </p:nvSpPr>
        <p:spPr>
          <a:xfrm>
            <a:off x="292465" y="7972425"/>
            <a:ext cx="31583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Liquidar ahora</a:t>
            </a:r>
            <a:endParaRPr lang="en-US" sz="1200" dirty="0"/>
          </a:p>
        </p:txBody>
      </p:sp>
      <p:sp>
        <p:nvSpPr>
          <p:cNvPr id="63" name="Shape 53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54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5D5FDC"/>
          </a:solidFill>
          <a:ln/>
        </p:spPr>
      </p:sp>
      <p:sp>
        <p:nvSpPr>
          <p:cNvPr id="3" name="Text 1"/>
          <p:cNvSpPr/>
          <p:nvPr/>
        </p:nvSpPr>
        <p:spPr>
          <a:xfrm>
            <a:off x="-38100" y="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09575" y="66675"/>
            <a:ext cx="172862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Liquidación completada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3743325" cy="8115300"/>
          </a:xfrm>
          <a:prstGeom prst="roundRect">
            <a:avLst>
              <a:gd name="adj" fmla="val 117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33350" dir="5400000">
              <a:srgbClr val="141E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457200"/>
            <a:ext cx="37433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" y="695325"/>
            <a:ext cx="352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357313" y="55245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0350" y="747713"/>
            <a:ext cx="171450" cy="114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50" y="742950"/>
            <a:ext cx="161925" cy="1238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8025" y="742950"/>
            <a:ext cx="247650" cy="1238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14400"/>
            <a:ext cx="3743325" cy="746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 rot="1199999">
            <a:off x="361950" y="11430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5D5FDC"/>
          </a:solidFill>
          <a:ln/>
        </p:spPr>
      </p:sp>
      <p:sp>
        <p:nvSpPr>
          <p:cNvPr id="14" name="Shape 9"/>
          <p:cNvSpPr/>
          <p:nvPr/>
        </p:nvSpPr>
        <p:spPr>
          <a:xfrm rot="-900000">
            <a:off x="3238500" y="1390650"/>
            <a:ext cx="85725" cy="85725"/>
          </a:xfrm>
          <a:prstGeom prst="roundRect">
            <a:avLst>
              <a:gd name="adj" fmla="val 22222"/>
            </a:avLst>
          </a:prstGeom>
          <a:solidFill>
            <a:srgbClr val="FFD15C"/>
          </a:solidFill>
          <a:ln/>
        </p:spPr>
      </p:sp>
      <p:sp>
        <p:nvSpPr>
          <p:cNvPr id="15" name="Shape 10"/>
          <p:cNvSpPr/>
          <p:nvPr/>
        </p:nvSpPr>
        <p:spPr>
          <a:xfrm>
            <a:off x="514350" y="1828800"/>
            <a:ext cx="66675" cy="66675"/>
          </a:xfrm>
          <a:prstGeom prst="ellipse">
            <a:avLst/>
          </a:prstGeom>
          <a:solidFill>
            <a:srgbClr val="F23D4F"/>
          </a:solidFill>
          <a:ln/>
        </p:spPr>
      </p:sp>
      <p:sp>
        <p:nvSpPr>
          <p:cNvPr id="16" name="Shape 11"/>
          <p:cNvSpPr/>
          <p:nvPr/>
        </p:nvSpPr>
        <p:spPr>
          <a:xfrm>
            <a:off x="2771775" y="1295400"/>
            <a:ext cx="57150" cy="5715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17" name="Shape 12"/>
          <p:cNvSpPr/>
          <p:nvPr/>
        </p:nvSpPr>
        <p:spPr>
          <a:xfrm rot="1800001">
            <a:off x="3286125" y="1943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9B6BFF"/>
          </a:solidFill>
          <a:ln/>
        </p:spPr>
      </p:sp>
      <p:sp>
        <p:nvSpPr>
          <p:cNvPr id="18" name="Shape 13"/>
          <p:cNvSpPr/>
          <p:nvPr/>
        </p:nvSpPr>
        <p:spPr>
          <a:xfrm>
            <a:off x="1033462" y="1962150"/>
            <a:ext cx="438150" cy="438150"/>
          </a:xfrm>
          <a:prstGeom prst="ellipse">
            <a:avLst/>
          </a:prstGeom>
          <a:solidFill>
            <a:srgbClr val="5D5FDC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9525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1023937" y="199072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395413" y="1885950"/>
            <a:ext cx="514350" cy="514350"/>
          </a:xfrm>
          <a:prstGeom prst="ellipse">
            <a:avLst/>
          </a:prstGeom>
          <a:solidFill>
            <a:srgbClr val="9B6B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9525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385888" y="19145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833563" y="1885950"/>
            <a:ext cx="514350" cy="514350"/>
          </a:xfrm>
          <a:prstGeom prst="ellipse">
            <a:avLst/>
          </a:prstGeom>
          <a:solidFill>
            <a:srgbClr val="00A65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9525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824038" y="19145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2271713" y="1962150"/>
            <a:ext cx="438150" cy="438150"/>
          </a:xfrm>
          <a:prstGeom prst="ellipse">
            <a:avLst/>
          </a:prstGeom>
          <a:solidFill>
            <a:srgbClr val="F2994A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9525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2262188" y="199072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294" y="2476500"/>
            <a:ext cx="36147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950" dirty="0"/>
          </a:p>
        </p:txBody>
      </p:sp>
      <p:sp>
        <p:nvSpPr>
          <p:cNvPr id="27" name="Text 22"/>
          <p:cNvSpPr/>
          <p:nvPr/>
        </p:nvSpPr>
        <p:spPr>
          <a:xfrm>
            <a:off x="179308" y="2857500"/>
            <a:ext cx="33847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¡El fondo fue liquidado exitosamente!</a:t>
            </a:r>
            <a:endParaRPr lang="en-US" sz="1575" dirty="0"/>
          </a:p>
        </p:txBody>
      </p:sp>
      <p:sp>
        <p:nvSpPr>
          <p:cNvPr id="28" name="Text 23"/>
          <p:cNvSpPr/>
          <p:nvPr/>
        </p:nvSpPr>
        <p:spPr>
          <a:xfrm>
            <a:off x="64294" y="3429000"/>
            <a:ext cx="36147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quedaron saldados 🙌</a:t>
            </a:r>
            <a:endParaRPr lang="en-US" sz="1013" dirty="0"/>
          </a:p>
        </p:txBody>
      </p:sp>
      <p:sp>
        <p:nvSpPr>
          <p:cNvPr id="29" name="Shape 24"/>
          <p:cNvSpPr/>
          <p:nvPr/>
        </p:nvSpPr>
        <p:spPr>
          <a:xfrm>
            <a:off x="171450" y="3848100"/>
            <a:ext cx="3400425" cy="66675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/>
        </p:spPr>
      </p:sp>
      <p:sp>
        <p:nvSpPr>
          <p:cNvPr id="30" name="Text 25"/>
          <p:cNvSpPr/>
          <p:nvPr/>
        </p:nvSpPr>
        <p:spPr>
          <a:xfrm>
            <a:off x="400348" y="4000500"/>
            <a:ext cx="6628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25" dirty="0"/>
          </a:p>
        </p:txBody>
      </p:sp>
      <p:sp>
        <p:nvSpPr>
          <p:cNvPr id="31" name="Text 26"/>
          <p:cNvSpPr/>
          <p:nvPr/>
        </p:nvSpPr>
        <p:spPr>
          <a:xfrm>
            <a:off x="400348" y="4238625"/>
            <a:ext cx="6628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participantes</a:t>
            </a:r>
            <a:endParaRPr lang="en-US" sz="788" dirty="0"/>
          </a:p>
        </p:txBody>
      </p:sp>
      <p:sp>
        <p:nvSpPr>
          <p:cNvPr id="32" name="Shape 27"/>
          <p:cNvSpPr/>
          <p:nvPr/>
        </p:nvSpPr>
        <p:spPr>
          <a:xfrm>
            <a:off x="1254323" y="4000500"/>
            <a:ext cx="9525" cy="3619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3" name="Text 28"/>
          <p:cNvSpPr/>
          <p:nvPr/>
        </p:nvSpPr>
        <p:spPr>
          <a:xfrm>
            <a:off x="1454944" y="4000500"/>
            <a:ext cx="7841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$72.400</a:t>
            </a:r>
            <a:endParaRPr lang="en-US" sz="1425" dirty="0"/>
          </a:p>
        </p:txBody>
      </p:sp>
      <p:sp>
        <p:nvSpPr>
          <p:cNvPr id="34" name="Text 29"/>
          <p:cNvSpPr/>
          <p:nvPr/>
        </p:nvSpPr>
        <p:spPr>
          <a:xfrm>
            <a:off x="1454944" y="4238625"/>
            <a:ext cx="7841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gastados</a:t>
            </a:r>
            <a:endParaRPr lang="en-US" sz="788" dirty="0"/>
          </a:p>
        </p:txBody>
      </p:sp>
      <p:sp>
        <p:nvSpPr>
          <p:cNvPr id="35" name="Shape 30"/>
          <p:cNvSpPr/>
          <p:nvPr/>
        </p:nvSpPr>
        <p:spPr>
          <a:xfrm>
            <a:off x="2430214" y="4000500"/>
            <a:ext cx="9525" cy="3619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6" name="Text 31"/>
          <p:cNvSpPr/>
          <p:nvPr/>
        </p:nvSpPr>
        <p:spPr>
          <a:xfrm>
            <a:off x="2630835" y="4000500"/>
            <a:ext cx="7115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25" dirty="0"/>
          </a:p>
        </p:txBody>
      </p:sp>
      <p:sp>
        <p:nvSpPr>
          <p:cNvPr id="37" name="Text 32"/>
          <p:cNvSpPr/>
          <p:nvPr/>
        </p:nvSpPr>
        <p:spPr>
          <a:xfrm>
            <a:off x="2630835" y="4238625"/>
            <a:ext cx="71154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transferencias</a:t>
            </a:r>
            <a:endParaRPr lang="en-US" sz="788" dirty="0"/>
          </a:p>
        </p:txBody>
      </p:sp>
      <p:sp>
        <p:nvSpPr>
          <p:cNvPr id="38" name="Shape 33"/>
          <p:cNvSpPr/>
          <p:nvPr/>
        </p:nvSpPr>
        <p:spPr>
          <a:xfrm>
            <a:off x="171450" y="4648200"/>
            <a:ext cx="3400425" cy="581025"/>
          </a:xfrm>
          <a:prstGeom prst="roundRect">
            <a:avLst>
              <a:gd name="adj" fmla="val 22951"/>
            </a:avLst>
          </a:prstGeom>
          <a:solidFill>
            <a:srgbClr val="FFFFFF"/>
          </a:solidFill>
          <a:ln w="14288">
            <a:solidFill>
              <a:srgbClr val="EEEEE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28613" y="4824413"/>
            <a:ext cx="3143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661988" y="4786313"/>
            <a:ext cx="2835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fondo </a:t>
            </a:r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"Viaje a Bariloche 🏔️"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quedó archivado. Podés verlo en tu historial.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171450" y="7229475"/>
            <a:ext cx="3400425" cy="485775"/>
          </a:xfrm>
          <a:prstGeom prst="roundRect">
            <a:avLst>
              <a:gd name="adj" fmla="val 27451"/>
            </a:avLst>
          </a:prstGeom>
          <a:solidFill>
            <a:srgbClr val="5D5FDC"/>
          </a:solidFill>
          <a:ln/>
        </p:spPr>
      </p:sp>
      <p:sp>
        <p:nvSpPr>
          <p:cNvPr id="42" name="Text 37"/>
          <p:cNvSpPr/>
          <p:nvPr/>
        </p:nvSpPr>
        <p:spPr>
          <a:xfrm>
            <a:off x="272844" y="7381875"/>
            <a:ext cx="31976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historial del fondo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171450" y="7810500"/>
            <a:ext cx="3400425" cy="49530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4288">
            <a:solidFill>
              <a:srgbClr val="5D5FD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77606" y="7967662"/>
            <a:ext cx="318811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5F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nuevo fondo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0" y="8382000"/>
            <a:ext cx="3743325" cy="19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1252538" y="8453438"/>
            <a:ext cx="1238250" cy="47625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2026-06-22T23:13:11Z</dcterms:created>
  <dcterms:modified xsi:type="dcterms:W3CDTF">2026-06-22T23:13:11Z</dcterms:modified>
</cp:coreProperties>
</file>